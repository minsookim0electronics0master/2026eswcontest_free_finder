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118fb4dbb4405a" /><Relationship Type="http://schemas.openxmlformats.org/officeDocument/2006/relationships/extended-properties" Target="/docProps/app.xml" Id="R113770e4696547e9" /><Relationship Type="http://schemas.openxmlformats.org/officeDocument/2006/relationships/officeDocument" Target="/ppt/presentation.xml" Id="R787596316b114a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4a999137924ed2"/>
  </p:sldMasterIdLst>
  <p:notesMasterIdLst>
    <p:notesMasterId xmlns:r="http://schemas.openxmlformats.org/officeDocument/2006/relationships" r:id="Rf66c86a88cd54846"/>
  </p:notesMasterIdLst>
  <p:sldIdLst>
    <p:sldId xmlns:r="http://schemas.openxmlformats.org/officeDocument/2006/relationships" id="256" r:id="R2913e9e6a5c94f3b"/>
    <p:sldId xmlns:r="http://schemas.openxmlformats.org/officeDocument/2006/relationships" id="257" r:id="Ra172794c9da74199"/>
    <p:sldId xmlns:r="http://schemas.openxmlformats.org/officeDocument/2006/relationships" id="258" r:id="R8979a34e8a624432"/>
    <p:sldId xmlns:r="http://schemas.openxmlformats.org/officeDocument/2006/relationships" id="259" r:id="Rcf49c9bc1e1b4e1c"/>
    <p:sldId xmlns:r="http://schemas.openxmlformats.org/officeDocument/2006/relationships" id="260" r:id="R600ba67055fe4a6c"/>
    <p:sldId xmlns:r="http://schemas.openxmlformats.org/officeDocument/2006/relationships" id="261" r:id="R522745b3db944ee4"/>
    <p:sldId xmlns:r="http://schemas.openxmlformats.org/officeDocument/2006/relationships" id="262" r:id="R41cedadb45b646d4"/>
    <p:sldId xmlns:r="http://schemas.openxmlformats.org/officeDocument/2006/relationships" id="263" r:id="R2db62d2ff11841fe"/>
    <p:sldId xmlns:r="http://schemas.openxmlformats.org/officeDocument/2006/relationships" id="264" r:id="R3c8648b3a9ba4f4f"/>
    <p:sldId xmlns:r="http://schemas.openxmlformats.org/officeDocument/2006/relationships" id="265" r:id="Rbd94a8c442fb4ace"/>
    <p:sldId xmlns:r="http://schemas.openxmlformats.org/officeDocument/2006/relationships" id="266" r:id="R0a233aa0f40a4578"/>
    <p:sldId xmlns:r="http://schemas.openxmlformats.org/officeDocument/2006/relationships" id="267" r:id="R198255b28e7c4b87"/>
    <p:sldId xmlns:r="http://schemas.openxmlformats.org/officeDocument/2006/relationships" id="268" r:id="R31df3835e47747ce"/>
    <p:sldId xmlns:r="http://schemas.openxmlformats.org/officeDocument/2006/relationships" id="269" r:id="Re76dc7bd638c41ac"/>
    <p:sldId xmlns:r="http://schemas.openxmlformats.org/officeDocument/2006/relationships" id="270" r:id="R8ef99411e8544f2c"/>
    <p:sldId xmlns:r="http://schemas.openxmlformats.org/officeDocument/2006/relationships" id="271" r:id="Rd20aa89115db4ae3"/>
    <p:sldId xmlns:r="http://schemas.openxmlformats.org/officeDocument/2006/relationships" id="272" r:id="Re2cebfa43d05431b"/>
    <p:sldId xmlns:r="http://schemas.openxmlformats.org/officeDocument/2006/relationships" id="273" r:id="R548c50c8811a4667"/>
    <p:sldId xmlns:r="http://schemas.openxmlformats.org/officeDocument/2006/relationships" id="274" r:id="R7084e2d3a9c747f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9eca7ed36644f8" /><Relationship Type="http://schemas.openxmlformats.org/officeDocument/2006/relationships/slideMaster" Target="/ppt/slideMasters/slideMaster1.xml" Id="R034a999137924ed2" /><Relationship Type="http://schemas.openxmlformats.org/officeDocument/2006/relationships/notesMaster" Target="/ppt/notesMasters/notesMaster1.xml" Id="Rf66c86a88cd54846" /><Relationship Type="http://schemas.openxmlformats.org/officeDocument/2006/relationships/presProps" Target="/ppt/presProps.xml" Id="R06d141da40c943f7" /><Relationship Type="http://schemas.openxmlformats.org/officeDocument/2006/relationships/tableStyles" Target="/ppt/tableStyles.xml" Id="Rf50dbe4a2bc64208" /><Relationship Type="http://schemas.openxmlformats.org/officeDocument/2006/relationships/slide" Target="/ppt/slides/slide1.xml" Id="R2913e9e6a5c94f3b" /><Relationship Type="http://schemas.openxmlformats.org/officeDocument/2006/relationships/slide" Target="/ppt/slides/slide2.xml" Id="Ra172794c9da74199" /><Relationship Type="http://schemas.openxmlformats.org/officeDocument/2006/relationships/slide" Target="/ppt/slides/slide3.xml" Id="R8979a34e8a624432" /><Relationship Type="http://schemas.openxmlformats.org/officeDocument/2006/relationships/slide" Target="/ppt/slides/slide4.xml" Id="Rcf49c9bc1e1b4e1c" /><Relationship Type="http://schemas.openxmlformats.org/officeDocument/2006/relationships/slide" Target="/ppt/slides/slide5.xml" Id="R600ba67055fe4a6c" /><Relationship Type="http://schemas.openxmlformats.org/officeDocument/2006/relationships/slide" Target="/ppt/slides/slide6.xml" Id="R522745b3db944ee4" /><Relationship Type="http://schemas.openxmlformats.org/officeDocument/2006/relationships/slide" Target="/ppt/slides/slide7.xml" Id="R41cedadb45b646d4" /><Relationship Type="http://schemas.openxmlformats.org/officeDocument/2006/relationships/slide" Target="/ppt/slides/slide8.xml" Id="R2db62d2ff11841fe" /><Relationship Type="http://schemas.openxmlformats.org/officeDocument/2006/relationships/slide" Target="/ppt/slides/slide9.xml" Id="R3c8648b3a9ba4f4f" /><Relationship Type="http://schemas.openxmlformats.org/officeDocument/2006/relationships/slide" Target="/ppt/slides/slide10.xml" Id="Rbd94a8c442fb4ace" /><Relationship Type="http://schemas.openxmlformats.org/officeDocument/2006/relationships/slide" Target="/ppt/slides/slide11.xml" Id="R0a233aa0f40a4578" /><Relationship Type="http://schemas.openxmlformats.org/officeDocument/2006/relationships/slide" Target="/ppt/slides/slide12.xml" Id="R198255b28e7c4b87" /><Relationship Type="http://schemas.openxmlformats.org/officeDocument/2006/relationships/slide" Target="/ppt/slides/slide13.xml" Id="R31df3835e47747ce" /><Relationship Type="http://schemas.openxmlformats.org/officeDocument/2006/relationships/slide" Target="/ppt/slides/slide14.xml" Id="Re76dc7bd638c41ac" /><Relationship Type="http://schemas.openxmlformats.org/officeDocument/2006/relationships/slide" Target="/ppt/slides/slide15.xml" Id="R8ef99411e8544f2c" /><Relationship Type="http://schemas.openxmlformats.org/officeDocument/2006/relationships/slide" Target="/ppt/slides/slide16.xml" Id="Rd20aa89115db4ae3" /><Relationship Type="http://schemas.openxmlformats.org/officeDocument/2006/relationships/slide" Target="/ppt/slides/slide17.xml" Id="Re2cebfa43d05431b" /><Relationship Type="http://schemas.openxmlformats.org/officeDocument/2006/relationships/slide" Target="/ppt/slides/slide18.xml" Id="R548c50c8811a4667" /><Relationship Type="http://schemas.openxmlformats.org/officeDocument/2006/relationships/slide" Target="/ppt/slides/slide19.xml" Id="R7084e2d3a9c747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228483471441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319eac964a4b3c" /><Relationship Type="http://schemas.openxmlformats.org/officeDocument/2006/relationships/notesMaster" Target="/ppt/notesMasters/notesMaster1.xml" Id="Rfdc23817422e49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1a1e56f9ae4fe2" /><Relationship Type="http://schemas.openxmlformats.org/officeDocument/2006/relationships/notesMaster" Target="/ppt/notesMasters/notesMaster1.xml" Id="Rc7e7470b6e3f45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5f1add5cd24e1c" /><Relationship Type="http://schemas.openxmlformats.org/officeDocument/2006/relationships/notesMaster" Target="/ppt/notesMasters/notesMaster1.xml" Id="R8b9475ae144640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526d6c0f2a418e" /><Relationship Type="http://schemas.openxmlformats.org/officeDocument/2006/relationships/notesMaster" Target="/ppt/notesMasters/notesMaster1.xml" Id="Rb9c72cd391a74f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0ba673f53d4ebc" /><Relationship Type="http://schemas.openxmlformats.org/officeDocument/2006/relationships/notesMaster" Target="/ppt/notesMasters/notesMaster1.xml" Id="R97dedd8bffb049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02d610f3164dd3" /><Relationship Type="http://schemas.openxmlformats.org/officeDocument/2006/relationships/notesMaster" Target="/ppt/notesMasters/notesMaster1.xml" Id="R88c6112b2f944f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7844f549414d43" /><Relationship Type="http://schemas.openxmlformats.org/officeDocument/2006/relationships/notesMaster" Target="/ppt/notesMasters/notesMaster1.xml" Id="R407408f86e8242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e8826f0d1e4b4c" /><Relationship Type="http://schemas.openxmlformats.org/officeDocument/2006/relationships/notesMaster" Target="/ppt/notesMasters/notesMaster1.xml" Id="R786c0225b27c4d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9677413aee4df8" /><Relationship Type="http://schemas.openxmlformats.org/officeDocument/2006/relationships/notesMaster" Target="/ppt/notesMasters/notesMaster1.xml" Id="R538d4ca7b789452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3091fc57e54133" /><Relationship Type="http://schemas.openxmlformats.org/officeDocument/2006/relationships/notesMaster" Target="/ppt/notesMasters/notesMaster1.xml" Id="R22a8116cbf9447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610529592d4826" /><Relationship Type="http://schemas.openxmlformats.org/officeDocument/2006/relationships/notesMaster" Target="/ppt/notesMasters/notesMaster1.xml" Id="R1e6e9a7fe65c4e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cb14f349e544ed" /><Relationship Type="http://schemas.openxmlformats.org/officeDocument/2006/relationships/notesMaster" Target="/ppt/notesMasters/notesMaster1.xml" Id="Rad5ad48bca0943c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6958605d9f44029" /><Relationship Type="http://schemas.openxmlformats.org/officeDocument/2006/relationships/notesMaster" Target="/ppt/notesMasters/notesMaster1.xml" Id="R0e9b7e5c96e04b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7ef8125b904bc3" /><Relationship Type="http://schemas.openxmlformats.org/officeDocument/2006/relationships/notesMaster" Target="/ppt/notesMasters/notesMaster1.xml" Id="R4203eb83125b47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909a5365a57407d" /><Relationship Type="http://schemas.openxmlformats.org/officeDocument/2006/relationships/notesMaster" Target="/ppt/notesMasters/notesMaster1.xml" Id="R3a55af9194d341b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729a65f68ae4e18" /><Relationship Type="http://schemas.openxmlformats.org/officeDocument/2006/relationships/notesMaster" Target="/ppt/notesMasters/notesMaster1.xml" Id="Rfe06fd7303f3410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ca68a62c9b4737" /><Relationship Type="http://schemas.openxmlformats.org/officeDocument/2006/relationships/notesMaster" Target="/ppt/notesMasters/notesMaster1.xml" Id="Ra536d7e15a5a41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e103ba5fdb54ca9" /><Relationship Type="http://schemas.openxmlformats.org/officeDocument/2006/relationships/notesMaster" Target="/ppt/notesMasters/notesMaster1.xml" Id="R0b58d9d6ff294fc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caf26ba3884240" /><Relationship Type="http://schemas.openxmlformats.org/officeDocument/2006/relationships/notesMaster" Target="/ppt/notesMasters/notesMaster1.xml" Id="Rdfe124ef41a04a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https://github.com/MinSooKim0Electronics0master/2026ESWContest_free_Finder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C:/Users/higgs/Downloads/finder-project/firmware/common/lilygo_t3_v161.h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C:/Users/higgs/Downloads/finder-project/sim/test_detour.py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C:/Users/higgs/Downloads/finder-project/firmware/node/node.ino</a:t>
            </a:r>
          </a:p>
          <a:p xmlns:a="http://schemas.openxmlformats.org/drawingml/2006/main">
            <a:r>
              <a:t>- C:/Users/higgs/Downloads/finder-project/firmware/handset/handset.ino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C:/Users/higgs/Downloads/finder-project/firmware/node/node.ino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C:/Users/higgs/Downloads/finder-project/firmware/common/lilygo_t3_v161.h</a:t>
            </a:r>
          </a:p>
          <a:p xmlns:a="http://schemas.openxmlformats.org/drawingml/2006/main">
            <a:r>
              <a:t>- C:/Users/higgs/Downloads/finder-project/firmware/node/node.ino</a:t>
            </a:r>
          </a:p>
          <a:p xmlns:a="http://schemas.openxmlformats.org/drawingml/2006/main">
            <a:r>
              <a:t>- C:/Users/higgs/Downloads/finder-project/firmware/handset/handset.ino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- C:/Users/higgs/Downloads/finder-project/sim/wokwi/mesh-practice/fake_radio.h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- C:/Users/higgs/Downloads/finder-project/firmware/handset/handset.ino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C:/Users/higgs/Downloads/finder-project/firmware/common/lilygo_t3_v161.h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- C:/Users/higgs/Downloads/finder-project/sim/wokwi/mesh-practice/fake_radio.h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C:/Users/higgs/Downloads/finder-project/sim/test_detour.py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C:/Users/higgs/Downloads/finder-project/sim/test_detour.py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C:/Users/higgs/Downloads/finder-project/docs/tasks.md</a:t>
            </a:r>
          </a:p>
          <a:p xmlns:a="http://schemas.openxmlformats.org/drawingml/2006/main">
            <a:r>
              <a:t>- C:/Users/higgs/Downloads/finder-project/webdemo/index.html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C:/Users/higgs/Downloads/finder-project/docs/contributions.md</a:t>
            </a:r>
          </a:p>
          <a:p xmlns:a="http://schemas.openxmlformats.org/drawingml/2006/main">
            <a:r>
              <a:t>- C:/Users/higgs/Downloads/finder-project/docs/tasks.md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C:/Users/higgs/Downloads/finder-project/docs/contributions.md</a:t>
            </a:r>
          </a:p>
          <a:p xmlns:a="http://schemas.openxmlformats.org/drawingml/2006/main">
            <a:r>
              <a:t>- https://github.com/MinSooKim0Electronics0master/2026ESWContest_free_Finder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9cb1e67bc140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bedf44ef5c42e2" /><Relationship Type="http://schemas.openxmlformats.org/officeDocument/2006/relationships/slideLayout" Target="/ppt/slideLayouts/slideLayout1.xml" Id="Rae394a96be0144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394a96be0144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7f4039d1248af" /><Relationship Type="http://schemas.openxmlformats.org/officeDocument/2006/relationships/notesSlide" Target="/ppt/notesSlides/notesSlide1.xml" Id="R8335bb28fb314b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08b00077c4c01" /><Relationship Type="http://schemas.openxmlformats.org/officeDocument/2006/relationships/notesSlide" Target="/ppt/notesSlides/notesSlide2.xml" Id="R8eb985db22fb42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1088a56774333" /><Relationship Type="http://schemas.openxmlformats.org/officeDocument/2006/relationships/notesSlide" Target="/ppt/notesSlides/notesSlide3.xml" Id="R9533ad6cb82642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cd42586414386" /><Relationship Type="http://schemas.openxmlformats.org/officeDocument/2006/relationships/notesSlide" Target="/ppt/notesSlides/notesSlide4.xml" Id="Rb6d235d5197749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8536064354949" /><Relationship Type="http://schemas.openxmlformats.org/officeDocument/2006/relationships/notesSlide" Target="/ppt/notesSlides/notesSlide5.xml" Id="R19a0b39b322f4f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58187590e482a" /><Relationship Type="http://schemas.openxmlformats.org/officeDocument/2006/relationships/notesSlide" Target="/ppt/notesSlides/notesSlide6.xml" Id="Rf2857cecd15245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c6f06f5b546ae" /><Relationship Type="http://schemas.openxmlformats.org/officeDocument/2006/relationships/notesSlide" Target="/ppt/notesSlides/notesSlide7.xml" Id="Rafaa9cdf01ef41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62165ff2e4183" /><Relationship Type="http://schemas.openxmlformats.org/officeDocument/2006/relationships/notesSlide" Target="/ppt/notesSlides/notesSlide8.xml" Id="Rf6ddd6f8f13c47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5f4d674de4516" /><Relationship Type="http://schemas.openxmlformats.org/officeDocument/2006/relationships/notesSlide" Target="/ppt/notesSlides/notesSlide9.xml" Id="R7dfbbba9646d46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a676a9fcc4df7" /><Relationship Type="http://schemas.openxmlformats.org/officeDocument/2006/relationships/notesSlide" Target="/ppt/notesSlides/notesSlide10.xml" Id="Rec72ad9411fc49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7aaa69f104573" /><Relationship Type="http://schemas.openxmlformats.org/officeDocument/2006/relationships/notesSlide" Target="/ppt/notesSlides/notesSlide11.xml" Id="R347374c779a44a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bc1719bf74209" /><Relationship Type="http://schemas.openxmlformats.org/officeDocument/2006/relationships/notesSlide" Target="/ppt/notesSlides/notesSlide12.xml" Id="R57ee0b43af6349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70f84ba2849ae" /><Relationship Type="http://schemas.openxmlformats.org/officeDocument/2006/relationships/notesSlide" Target="/ppt/notesSlides/notesSlide13.xml" Id="Rc351dffd53794d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f866e7ae94329" /><Relationship Type="http://schemas.openxmlformats.org/officeDocument/2006/relationships/notesSlide" Target="/ppt/notesSlides/notesSlide14.xml" Id="R540ec43ad3aa409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c33a223664059" /><Relationship Type="http://schemas.openxmlformats.org/officeDocument/2006/relationships/notesSlide" Target="/ppt/notesSlides/notesSlide15.xml" Id="R0748e80465b9435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22969dbbe4407" /><Relationship Type="http://schemas.openxmlformats.org/officeDocument/2006/relationships/notesSlide" Target="/ppt/notesSlides/notesSlide16.xml" Id="R66cfc761e12a4e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5b028e1d74462" /><Relationship Type="http://schemas.openxmlformats.org/officeDocument/2006/relationships/notesSlide" Target="/ppt/notesSlides/notesSlide17.xml" Id="Rc9cdf6d08392410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01ac0c97143c9" /><Relationship Type="http://schemas.openxmlformats.org/officeDocument/2006/relationships/notesSlide" Target="/ppt/notesSlides/notesSlide18.xml" Id="R3ff4809da0aa44d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00d9f49b746d0" /><Relationship Type="http://schemas.openxmlformats.org/officeDocument/2006/relationships/notesSlide" Target="/ppt/notesSlides/notesSlide19.xml" Id="R82561967ae1948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3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55496-2A73-482C-A296-5A1D78E4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85540-A757-421A-9EBC-FE954876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914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F96E1-4BC7-46D0-A193-D203FF5F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DEVELOPMENT COMPLETION REPORT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443478-8B0E-4A9C-B15E-8FF5964C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Finder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62646-1000-454F-8EF6-CDCAA888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D4B4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FFD4B4"/>
                </a:solidFill>
                <a:latin typeface="Malgun Gothic"/>
                <a:ea typeface="Malgun Gothic"/>
                <a:cs typeface="Malgun Gothic"/>
              </a:rPr>
              <a:t>긴급 필요시설 알리미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79E28-AE6A-4ADA-B240-ECDEC47F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28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rPr>
              <a:t>낯선 곳과 통신 취약 상황에서 AED·소화전·화장실을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rPr>
              <a:t>3계층 안내로 찾도록 돕는 임베디드 시스템입니다.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FBE56-63C8-4F59-8948-358FDA0A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A5EE7-4537-4B70-BA6B-7DB37898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자유공모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82F87-8F14-460F-9F4F-938B05E2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7053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C14B5-C42E-4E01-83F8-5902E966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733925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팀 파인더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ED2A4-E60C-46ED-B4DA-CC462929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05350"/>
            <a:ext cx="819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9BECEE-B130-4A8C-9428-F506FCF6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33925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6B50A1-58DE-4982-B0FA-1D57A5D5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BAC8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BAC8D8"/>
                </a:solidFill>
                <a:latin typeface="Malgun Gothic"/>
                <a:ea typeface="Malgun Gothic"/>
                <a:cs typeface="Malgun Gothic"/>
              </a:rPr>
              <a:t>팀장 김민수 · 팀번호 [확인 필요]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6CEB4-288E-48C2-A726-1FA61C37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제24회 임베디드SW경진대회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7E7784-E5F7-41CF-A353-9E015E84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90725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666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21E6B9-D2DE-400C-A760-1AAA2C40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9146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공공데이터 + GPS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001BB3-E03D-4A96-9C7D-F010DCBB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8600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27A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441E51-F864-416B-B357-30B6E691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146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BLE 안내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0ABCC9-2609-405D-97F3-AE15B0E9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581275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B43757-1D22-415A-877A-0E299EEF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914650"/>
            <a:ext cx="819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4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LoRa 메시</a:t>
            </a:r>
          </a:p>
        </p:txBody>
      </p:sp>
    </p:spTree>
    <p:extLst>
      <p:ext uri="{BB962C8B-B14F-4D97-AF65-F5344CB8AC3E}">
        <p14:creationId xmlns:p14="http://schemas.microsoft.com/office/powerpoint/2010/main" val="5622699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507548-8FA9-4A87-8161-80FAA2D7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4A24E-CFC1-47E8-A906-78768F01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01 DEVELOPMENT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08AE5-0D3A-46A7-9CE7-FA850FA1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개발 배경과 필요성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1BA0D-5154-4450-96A6-869F545E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1E907-83D1-453F-A812-E78C96BD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42373-6B00-4F0D-BFF2-43932003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19A9D-FF29-4453-BD2D-76229D6F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8196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6B4E64-E89F-4ACB-9C75-5A1EFD2D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94CA9-9B30-4814-8784-12D0828C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445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현장에서 발생하는 문제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68A8CA-C5EE-4124-9B9E-8025357E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4457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낯선 장소에서는 시설 위치를 즉시 파악하기 어렵습니다. 인터넷 지도만 의존하면 실내·재난·망 장애 상황에서 안내가 끊길 수 있습니다.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8CBC-7AC4-4B6A-A473-ACC18702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48196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BDE3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1E52A-5CB5-4A11-9940-8370DA32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DA171-8629-43E0-BB61-AB0F7BA0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45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필요한 대응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B3852-6E40-413A-95F6-5666E277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44577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평시에는 오프라인 공공데이터와 GPS로 주변 시설을 찾고, 가까워지면 BLE로 안내하며, 재난 시에는 LoRa 메시가 다른 노드를 거쳐 우회하도록 구성합니다.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7CC61B-47FB-4618-9566-870483BB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10200"/>
            <a:ext cx="48196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45458F-1169-40FA-983B-BC65FD76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4552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목표: 통신 조건이 달라져도 ‘시설 정보 전달’이 이어지는 구조를 검증합니다.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885EF-B85F-4730-B972-3BC89066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504950"/>
            <a:ext cx="5467350" cy="361950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463425-DD5D-4831-9D34-B8D698B8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1841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1879AC-ED84-4057-B31D-B8F6C5C9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87090"/>
            <a:ext cx="4933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AED·소화전·공중화장실 표지를 한 장에 모은 현장 사진 또는 직접 촬영한 2~3장 콜라주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F1A8F-E003-450A-B844-8CF0EF37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006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4809DB-E3E8-4E43-974E-AC67A98B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2292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1B224-8B03-49F5-A221-1DDA67AB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911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문제 대상으로 삼은 긴급·생활 필요시설의 실제 표지 예시입니다.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CAC119-9AE8-4076-831B-0189D5E0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619750"/>
            <a:ext cx="539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사진에는 사람 얼굴·차량번호 등 개인정보가 보이지 않도록 정리합니다.</a:t>
            </a:r>
          </a:p>
        </p:txBody>
      </p:sp>
    </p:spTree>
    <p:extLst>
      <p:ext uri="{BB962C8B-B14F-4D97-AF65-F5344CB8AC3E}">
        <p14:creationId xmlns:p14="http://schemas.microsoft.com/office/powerpoint/2010/main" val="122144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0FA699-0017-427F-8AF2-DBE164E4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000A5A-A4AF-441D-9B08-E961B7B7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01 DEVELOPMENT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25FF8-AD8C-43A4-9CAA-0F46B14C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개발 목표와 제출 링크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6D4B0-A3B9-451C-ADA1-21368679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BE6B8-FC84-4DB4-A1EB-D8758F12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0ECB22-C85D-4574-B83C-C15081D2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FAAD4E-BED8-4DA9-B40B-131D504B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14450"/>
            <a:ext cx="10877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7CF4F8-D700-4E8F-AAFA-4C20EE53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1061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패킷과 우회 알고리즘을 먼저 검증하고, 실제 수신 보드에서 OLED·BLE까지 연결하는 것이 이번 개발 목표입니다.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0B607-143B-47C7-A7D1-DA931FB4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288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33468-FB37-450F-ABBE-207E7A3A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46F07-7473-4E27-BCB6-02964DD7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5531E-537B-471C-969F-8C4ECF5D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431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패킷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C76CD-D91B-4CC0-AA77-EE38C919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9바이트 FinderPacket으로 노드·단말·시뮬레이터의 메시지 형식을 통일합니다.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D7B2D-E475-4D43-A1F7-F586DB81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288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8CAA46-0E74-4361-A10A-2B5614EA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812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4F7B07-AAFB-4834-B7A5-12E48DCA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09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B84FD0-7DB8-415E-A5E1-27D62BCA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431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메시 우회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484EFF-FD10-4026-86D8-7AF899A8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194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msgId 캐시, TTL 감소, 50~300 ms 랜덤 지연으로 플러딩을 제어합니다.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76AF91-CF44-404E-BDFA-41B6B0B9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433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131B44-F184-435F-8651-41363B38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0A7722-9AB3-45F5-B8A5-9056340B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243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A6A4E3-69A8-4FDB-8DD8-3B04A0CD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수신 표시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471D54-333F-4EDA-AD43-5CE96A34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수신 경로·시설·메시지 번호를 실제 OLED에 표시합니다.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3A5119-6199-496F-B41D-533D22A4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433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EDDD14-8C7E-4AD4-AD44-1F49B1C8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330FA1-FB58-43C3-B9BD-48DC8DD7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243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CA6687-2AE4-4158-9524-5F3B79F2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576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BLE 재방송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EDC4BE-F577-42E2-AC92-499E9AEA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339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수신한 최신 정보를 Finder-D BLE 광고 데이터에 반영합니다.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73F18C-F7B4-49E5-9DB4-9E163F7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28850"/>
            <a:ext cx="41529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FDF91C-8D8A-424C-B722-D19B22FF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28850"/>
            <a:ext cx="66675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6AC040-6CE6-442A-A5FB-13C0B48B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62200"/>
            <a:ext cx="3790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필수 링크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771F0D-8293-4B05-885B-271DF79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194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소스코드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2A0403-0370-4EA6-8E28-944510F4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05150"/>
            <a:ext cx="3562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https://github.com/MinSooKim0Electronics0master/2026ESWContest_free_Finder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56A0ED-D2BB-46CD-ABB6-4F466637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005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시연동영상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3C4E1D-03C1-43D5-BCE6-495B1B34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305300"/>
            <a:ext cx="36385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dash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DA9BB1-218B-49D5-8529-6F3418D6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38650"/>
            <a:ext cx="3409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[YouTube 링크 입력]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0B2E42-94D4-4365-B2D2-A957B087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600700"/>
            <a:ext cx="4152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D4BB5C-DCA2-41C7-A5E3-2258A6D6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6578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제출 직전: 영상 공개 상태와 링크 재생을 다른 브라우저에서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5522611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65526-6DF8-4DB4-9A72-8BF9188A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06119-2310-46C7-BD60-BC3FF171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01 DEVELOPMENT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D8FFF-18B8-4FA9-9561-F9073065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3계층 안내 구조와 현재 검증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078CA-76E4-40F9-99A2-8FC4B592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완료보고서에는 실제 확인한 범위와 향후 구현 범위를 구분하여 표시합니다.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FF84F-1C6C-4F9D-A1F6-36CEF994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9905A-323B-4BEE-80ED-02865E50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726C1-CC87-49D2-9BF4-560FE6F2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98131-D192-4214-BDDD-6C2FC231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3238500" cy="36385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298AC-69BF-4D54-A8C6-86F03E92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2910E-D3AB-4D01-87CF-D4C348D7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C80A0-E8A8-4CFD-A02D-93E9FD91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907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평시 원거리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9DA21F-BD62-419F-8FE1-53BDB839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공공데이터 + GPS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19881A-4372-42F6-BC92-0CAADFF0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웹 지도 골격 작성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CSV 로더 구조 준비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실제 데이터 연결은 후속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256E7-24BE-4DE8-8EE6-D1D75284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053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56FE8-D574-403A-85E7-D4367EAE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구조 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7CD2E6-BF7D-4951-97A7-BC14136A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619250"/>
            <a:ext cx="3238500" cy="36385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98AA2E-C9E1-4C6C-A0A9-BEADAF2F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96FA25-28AE-4810-BF72-51265248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847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A142C6-8D28-4935-AB6A-56CD9ABF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7907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가까운 거리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3E25D-C4BF-4FD7-97DD-91BBAC57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431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BLE 광고 안내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B81EC0-DF34-452D-A1F0-94CD8907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480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실물 D에서 Finder-D 광고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시설·경로 데이터를 광고에 반영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nRF Connect에서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C53FE1-A53E-4A8C-999C-CFFA8CFE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7053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8A5364-9BEC-450D-8C6F-52E6BF33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실물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DB50FB-AC38-48C3-B6F3-CE0A9952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19250"/>
            <a:ext cx="3238500" cy="36385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3DCA9F-3E72-410B-B133-FFFE4650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CD64CF-D161-4BEA-9844-DFC879DC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47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CEC761-52A7-48A0-9FA6-FCA7DC6A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907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재난 모드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B173BB-613F-4273-829C-F4CCB4A4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431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LoRa 메시 우회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ABFC32-5061-4D54-B2E8-C281AFC0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메시 알고리즘·시뮬레이터 완료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A/B/C + 실물 D 검증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4대 RF 검증은 보드 도착 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FD654D-6ED9-4283-9FC6-8B4D7E97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7053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662D66-8643-49A3-9695-59BDB99D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부분 검증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E38A85-7384-4C8E-8A32-212A36EC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43250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BC6023-C648-4974-A976-068ADCDE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43250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052078-28DC-41D1-9F31-5515C2BF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43550"/>
            <a:ext cx="109156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E5BA2C-8705-40A9-B688-E9FA5D7E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1064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검증 원칙  |  실물 확인 = 실제 D 보드에서 관찰  ·  부분 검증 = 알고리즘/혼합환경 확인  ·  향후 = 4대 LoRa RF 확인</a:t>
            </a:r>
          </a:p>
        </p:txBody>
      </p:sp>
    </p:spTree>
    <p:extLst>
      <p:ext uri="{BB962C8B-B14F-4D97-AF65-F5344CB8AC3E}">
        <p14:creationId xmlns:p14="http://schemas.microsoft.com/office/powerpoint/2010/main" val="1871671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795930-045B-401F-B6CA-979FF32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0A730-AF47-4A63-8668-3147964F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02 DEVELOPMENT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C9D54-8553-43FA-A0A5-568DA85E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하드웨어·소프트웨어 개발 환경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40FAB3-38BA-4357-9116-836D3792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0FC7-D0A2-4D80-866F-DA9F061A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1FD9B-98CC-49B3-93D4-066DACB5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C255C-A249-473F-B67E-DDB03BDD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7625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85ABB0-C491-4BD3-8B27-0202284F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798F0-1872-4389-826E-791F5382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목표 하드웨어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66475-FA50-4C07-A5BB-5EDF694C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44005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LILYGO T3 LoRa32 V1.6.1 × 4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ESP32-PICO-D4 + SX1278 + 0.96" OLED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433/470 MHz 모델, 안테나 장착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A·B·C 시설 노드 / D 수신 단말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270027-4A2D-4C72-8445-87A475E9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43300"/>
            <a:ext cx="47625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E8A6AA-8A2D-42B0-BA34-925E5C8F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43300"/>
            <a:ext cx="66675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F293C-A2CB-4957-A075-1A19E0EA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사용 소프트웨어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88AA6-1D6D-4A0F-B55B-F634026C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44005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Arduino IDE · ESP32 보드 패키지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RadioLib · ESP32 BLE · Adafruit SSD1306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· PubSubClient(MQTT 시험 전송)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Python 3 표준 라이브러리 시뮬레이터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GitHub · GitHub Desktop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13D33-40DC-4455-8F2D-519E75C9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264795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03CE2-1C58-40F6-B902-43494796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5549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37AAD4-C357-4024-AAA5-7DD38B96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9270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28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보드 앞면과 뒷면을 나란히 촬영한 사진. T3 V1.6.1 및 433/470MHz 라벨이 읽혀야 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621362-6299-4629-9A71-73B7E516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43325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19EB3-53A5-482B-8D1A-CEA40B18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771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BEA243-3FF0-4CCE-AEE9-DE5819C9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3380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사용한 LILYGO T3 LoRa32 V1.6.1 보드의 외형과 모델 표기입니다.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146F86-8464-48CF-ABA7-17A6A4B1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28750"/>
            <a:ext cx="264795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84A733-39A6-46B1-B7D9-7BE04F64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5549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2DDB6C-5084-40B7-B187-052995AD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59270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23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안테나와 USB를 연결하고 OLED가 켜진 실제 D 보드 사진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2DF6EC-73F0-4E38-93A5-5B3D38F1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43325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742B62-74A6-48E5-8228-DBC55602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71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C088B2-5E8C-40A5-939E-57EA5E06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3380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실제 수신 단말 D의 연결 상태와 OLED 구동 모습입니다.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BC2935-C7E2-41B0-B756-A68575A2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419600"/>
            <a:ext cx="554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A11FF8-0DD5-4D9F-A338-D7D723A5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5276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현재 검증 구성: 실물 D 1대 + Wokwi 가상 A/B/C 3대입니다. 4대 실물 RF 검증은 후속 일정입니다.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3F288E-4FD7-4B20-9F56-741402C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29250"/>
            <a:ext cx="5467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주의: 실제 송신 주파수·출력·안테나·적합성 조건은 국내 전파 관련 기준을 확인한 뒤 설정합니다.</a:t>
            </a:r>
          </a:p>
        </p:txBody>
      </p:sp>
    </p:spTree>
    <p:extLst>
      <p:ext uri="{BB962C8B-B14F-4D97-AF65-F5344CB8AC3E}">
        <p14:creationId xmlns:p14="http://schemas.microsoft.com/office/powerpoint/2010/main" val="12369987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9028D8-97FD-4CCA-9A24-38322F59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00FDC-050B-4E86-A92D-38853B8B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02 DEVELOPMENT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8D712-4C6B-41C0-8BFA-A5CF054E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기능 구성도: A–B/C–D 이중 경로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D3C903-519A-4E0E-A9B0-AF9BC262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B가 중단되어도 C를 거쳐 D에 도달하는 구조입니다.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2EA0BB-F0AD-4489-AED7-01FC7A80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74813-C68D-40F2-84B6-F7F1698C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992358-69BF-4486-93F9-38532747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BFE05-44BF-404C-BFD3-C3093AC1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3429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6EA79-EFE3-42AB-BB05-4FBA5986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3314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현재 혼합 검증: A/B/C=Wokwi · D=실물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70141-2AF1-4093-A208-D9CC88B0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333500"/>
            <a:ext cx="3333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916CC-E3E3-4471-AB59-D13D02C1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62075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최종 목표: A/B/C/D=LoRa RF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F6CF0-DC55-4803-B16A-B2F7F7BD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714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8CC3F4-410B-4EB0-88F8-20A556D3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76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FC835A-1F52-4647-889A-C6AA2FB3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시설 정보 발신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68B8C5-F375-4BF2-A558-B07EB340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00250"/>
            <a:ext cx="1809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5607E-8F67-4173-BC3D-0F1620FC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EBA0F3-1B26-4B2A-A3B4-67E79E7D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574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경로 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2E1E05-EA21-4D80-AE94-8CFEEE19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848100"/>
            <a:ext cx="1809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13B200-465B-4437-9312-BF86337A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43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5F1EC-BB32-4759-B0C2-405DDDA5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30530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경로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4E933E-C24C-42DF-807A-85DC5DAD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81300"/>
            <a:ext cx="21336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4ADAF9-50E4-4B8F-9EE6-E0E4D8C9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7655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92C1CF-44D4-4383-A992-3BBB68FC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385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OLED + BLE 수신</a:t>
            </a:r>
          </a:p>
        </p:txBody>
      </p:sp>
      <p:cxnSp>
        <p:nvCxnSpPr>
          <p:cNvPr id="6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2552700" y="2476500"/>
            <a:ext cx="1428750" cy="781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552700" y="3257550"/>
            <a:ext cx="14287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15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791200" y="2476500"/>
            <a:ext cx="2800350" cy="781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1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V="1">
            <a:off x="5791200" y="3257550"/>
            <a:ext cx="28003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F996E7-44D1-472B-A9FB-5CCC2EA9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경로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979857-C199-44CD-8183-2FCC8F37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767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경로 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3D700A-13C7-4AAB-A9D0-F20BC11C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1695450" cy="262890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CA4E71-CD07-4BEA-8BE7-E532918C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66675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88B25B-9085-4529-B0F4-9E5EC534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098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D의 역할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29BFFB-8497-43D8-817F-3582991A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52700"/>
            <a:ext cx="13335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1. 패킷 수신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2. msgId 중복 억제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3. 시설·경로 OLED 표시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4. BLE 광고 갱신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9845C4-9B7B-472C-9719-4ADACB93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34000"/>
            <a:ext cx="4476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0A8EB8-1293-4C93-BC62-61D12BE1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91150"/>
            <a:ext cx="421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정상: A → B → 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E4FFCE-7533-49ED-BBC9-65D4CB1A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334000"/>
            <a:ext cx="4476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975091-F018-4BE7-8EEF-9C7CC509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91150"/>
            <a:ext cx="421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B 중단: A → C → D</a:t>
            </a:r>
          </a:p>
        </p:txBody>
      </p:sp>
    </p:spTree>
    <p:extLst>
      <p:ext uri="{BB962C8B-B14F-4D97-AF65-F5344CB8AC3E}">
        <p14:creationId xmlns:p14="http://schemas.microsoft.com/office/powerpoint/2010/main" val="13244342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E212821-F08F-49F7-A5B4-E7D7EB31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A67CF-71E8-44FB-B38A-897DB53C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DE8011-258D-42C7-9A0A-F7725D24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패킷 규격: FinderPacket 9바이트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65BEB7-BF1E-4346-ADDE-D54A9E16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064BE-A029-4A0D-B807-3A325FE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1B7CC1-6E07-4E6E-9D12-2475B7AA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20B758-AA9F-46C7-9032-57277D87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240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49EFD-C0BB-4B25-9FAA-77B88B2D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필드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35352-77CC-426B-9D61-0D81351F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2400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F2C8B-77FC-4AE0-BB93-01295A0A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56210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AC6BC7-8333-4008-931B-EFDCEBE1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52400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8019A0-0280-4B36-970D-BCC9789A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6210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역할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CDC9E6-4DB2-43A0-BE59-D6C983E5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657F1-C907-406B-9DA7-099E03D2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85975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msgId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5D0D57-91B3-4F6E-A2A0-F3B4C313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47875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4C6F7A-04E1-4F73-BF71-849F6D56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085975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 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D3861A-B4C1-4A1B-9998-931C464E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47875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7CDA00-DE3E-4902-B75E-5D6CC56F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85975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상위 8비트 srcId + 하위 24비트 시퀀스로 중복을 식별합니다.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71E719-388D-4B33-8D94-1753B76E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1FF479-F6E5-437D-AC2F-22365383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srcId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1B385-147F-4624-91B0-C17255E3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7175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0E31DA-6FD5-4D48-B8BE-F24685D7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0985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24976D-FF5C-4126-B4DF-1F19308C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7175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B5F66B-1977-434F-B749-50D0BC7B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60985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최초 발신 노드를 식별합니다.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4ADE91-EDDE-4DB0-97C2-72246440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956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108DFA-14A2-4142-BA21-C1057D87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33725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facilityType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4CC5D3-3E44-438B-810B-E1543636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95625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8CC71B-52C2-4B77-BA83-DAB03355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33725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6B1C99-869B-40BA-BA63-23733886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95625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42E621-656B-479D-84CB-08DC43FA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133725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1=AED, 2=소화전, 3=화장실입니다.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4986B0-EE49-4F46-87E1-41C85113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395B35-D582-483A-82C8-6F2DF663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status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7999B8-288F-4BCE-AB8A-00B2723F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1950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8216BD-FE37-4EEC-B687-136A6710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5760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B6DE54-4FCA-4390-B397-05B1FF85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1950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BF9294-FB5F-4160-9906-696DD1F2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65760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0=정상, 1=점검 상태입니다.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F6B9FC-D6AD-44EB-913F-B854C9FB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0CC6A9-E9DF-42A4-B167-739CADEE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ttl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A5AC78-0F11-473A-B9F5-535F2A12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143375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79AC21-5F59-4763-9268-EC0A3F2E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81475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41E5ECC-10A2-4188-9492-FB85061B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43375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46512B-A6FF-4221-BE76-10885B2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181475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릴레이할 때 1 감소하며 무한 전파를 막습니다.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A6699A-A573-414C-9289-FDC1B07B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74EB9F-FE66-4B65-8940-6870ADFD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0535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lastHopId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CDA22A-E180-4CE0-91D0-CDE989F8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6725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C551783-956C-4560-B949-CB0ACAB3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70535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8A1773-133A-4CAE-AC34-DA13CA5F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6725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0F52E5-F2AC-4F53-9136-610B847B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70535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직전 중계 노드를 기록하여 경로를 표시합니다.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8A988F1-BA86-4245-8E26-A8E1066B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24000"/>
            <a:ext cx="337185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0490D8-ABAA-4D36-8768-578D65EE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24000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C0887E-BE7C-43C2-83C8-C8B04938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573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메시 제어 상수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1BC2DA-723A-4863-A385-C9E574B0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캐시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FA17149-D966-4047-A09B-55FEF339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9550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1EE123B-94F4-468E-812D-2C85580A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240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16개 msgId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F5FB11-BA52-4A9A-B748-AC0896FD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717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초기 TTL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0795D21-67C4-40E8-A13A-0C6635E3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45EDD22-627E-4FDD-A7D3-8089E5A5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00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205B622-CB93-4EE8-832C-8784F853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480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재송신 지연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AC9EA80-B942-4865-AE6A-719F3F3E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4800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F9FAAC1-B88F-4FEA-883E-5288E132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765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50~300 ms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961D5A6-101C-4CD3-935A-0782F772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242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시험 계획 채널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6386FB6-41AA-4EF7-94AD-2482A59F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32C3026-C6CB-4ACE-891C-1DB1150B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52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433.92 MHz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48D6F53-2D90-4B2F-8F92-5B484B34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33718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EAC94A4-E944-43A9-9C0F-7C37824F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6667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5EFB67-F8D9-4117-A321-78A715CF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3390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msgId 구성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C8EEE35-74C3-4B1B-8569-43191E49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76800"/>
            <a:ext cx="3009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1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566275"/>
                </a:solidFill>
                <a:latin typeface="Consolas"/>
                <a:ea typeface="Consolas"/>
                <a:cs typeface="Consolas"/>
              </a:rPr>
              <a:t>[ srcId 8 bit ][ sequence 24 bit ]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566275"/>
                </a:solidFill>
                <a:latin typeface="Consolas"/>
                <a:ea typeface="Consolas"/>
                <a:cs typeface="Consolas"/>
              </a:rPr>
              <a:t>같은 패킷의 재수신 여부를 빠르게 판단합니다.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C982B32-E385-49F4-AC6B-CC54F359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67350"/>
            <a:ext cx="7239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FE17EE2-3D2C-47EC-A540-0A559D2A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6972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패킷에는 함수 구현을 넣지 않고 규격만 둡니다. 송수신 코드와 시뮬레이터가 같은 정의를 따릅니다.</a:t>
            </a:r>
          </a:p>
        </p:txBody>
      </p:sp>
    </p:spTree>
    <p:extLst>
      <p:ext uri="{BB962C8B-B14F-4D97-AF65-F5344CB8AC3E}">
        <p14:creationId xmlns:p14="http://schemas.microsoft.com/office/powerpoint/2010/main" val="199884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A4A4960-C2D9-417A-9444-DCAC3734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6C251-096D-4A14-8914-B1F7663B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048167-F01E-4DE2-9294-FEDB7253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메시 릴레이 알고리즘의 3가지 규칙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4CC934-3948-440B-B715-FF90BD93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AB3FE-7B7B-46B5-8CEC-4258B0E4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418F1-A160-4589-ABCB-FCAF0257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549D7-44DF-474D-8025-30B97B89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809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B4491E-0244-428F-B39A-D3E91A59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698F01-49E4-4FD6-992B-14E8F118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812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FinderPacket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A7A74F-47A8-4CCB-B3E7-1EB5C0CF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228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4B8FA2-1B6A-420D-96B5-5E36A113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캐시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011D8F-A42C-440B-86AE-B0A531FF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msgId가 이미 있는가?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5539A9-8938-4DBE-AE12-D57BA84C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28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4F703-5A5D-4FEB-B9B3-6180AB51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672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TTL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A678DB-916C-47FE-8E38-8356F2B1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291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0이면 재송신 중지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61EF9-AA99-4521-BB56-0CB7E662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171950"/>
            <a:ext cx="2381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8B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9525F-5382-4EA3-81F4-90AABF39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67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재송신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A0A555-1B25-46C4-917E-643EFEA8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6291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TTL−1 · 50~300ms 대기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2DE440-56C1-444E-B4A7-7D67429A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724150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23B2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E06782-8DD6-424F-B94F-6056B04F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194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폐기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5D0284-7B69-4B8E-A22D-16E4B55B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813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중복 패킷</a:t>
            </a:r>
          </a:p>
        </p:txBody>
      </p:sp>
      <p:cxnSp>
        <p:nvCxnSpPr>
          <p:cNvPr id="71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1762125" y="2305050"/>
            <a:ext cx="238125" cy="4191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10233F"/>
            </a:solidFill>
            <a:prstDash val="solid"/>
            <a:head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2000250" y="3600450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10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143250" y="31623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23B22"/>
            </a:solidFill>
            <a:prstDash val="solid"/>
            <a:head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143250" y="46101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B68"/>
            </a:solidFill>
            <a:prstDash val="solid"/>
            <a:head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E062CB-7182-4FB5-8E25-DF5F08B7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33800"/>
            <a:ext cx="800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E93109-C918-4E34-9F3D-336A8714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623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아니오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91E781-5A9C-439F-A2E7-AE4F0972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527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7C2786-C3F5-4D41-A6D3-AE326A33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813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D9543F-FCA9-4332-BCF4-87BB9F9E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04950"/>
            <a:ext cx="41338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C03F48-E614-44DC-92BF-1F8AA8C3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04950"/>
            <a:ext cx="66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424018-5455-4961-84B6-CE4717A4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383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중복 억제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AB2320-9B4D-43FE-87A6-9323A7BE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81200"/>
            <a:ext cx="3771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최근 msgId 16개를 저장하고 같은 메시지는 다시 전달하지 않습니다.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8FDA13-85C8-40CC-A57D-804B8C63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274D56-F0F7-413D-82D5-4E547933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199DB7-34E3-4FE5-8BB3-FF1C7D9E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71800"/>
            <a:ext cx="41338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A880D2-8A2E-4D66-A2E9-CF198288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71800"/>
            <a:ext cx="66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3C80CF-A2B2-470A-A9E0-8902602C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051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TTL 감소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8A0616-4D51-4856-BEB4-63A8D8B1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48050"/>
            <a:ext cx="3771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릴레이마다 TTL을 1 줄여 패킷이 계속 순환하는 것을 막습니다.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30E1B8-141B-4DC1-B7DB-D4CB0EB5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79009B-51AD-4653-9EBF-8973CD8A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F53703-17BF-41AF-B972-426A8278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41338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69840B-4882-4B34-97A5-BC213A5B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66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BB9EB9-5937-469E-AF31-D3541210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72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랜덤 지연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A99C6D-A6DB-4F67-9439-288A6F98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14900"/>
            <a:ext cx="3771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동시에 재송신하는 충돌을 줄이기 위해 50~300 ms를 기다립니다.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015E20-3799-451E-A95F-2A77F458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690BB4-9677-4B51-A231-8B46D617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FAC847-50E2-4D4E-8E9B-ACCF2406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48300"/>
            <a:ext cx="10610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36000B-CD67-4FE9-AC12-471B9D34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1034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목적: 루프·중복·동시 재송신을 줄이면서 다른 경로가 남아 있으면 D까지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4785957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9A446F-DD46-41BC-B139-4563D8AD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9217F3-3A96-4636-9BC0-66F2B7F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433A8A-67C8-4DF9-B192-B5F641AC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프로그램 파일 구조와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B3BDA-C07F-4C91-8E2C-42DE5699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DDCA8-7830-47C1-9D9F-5202A0D5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240B6-17C9-4B97-A2C9-3213E440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F3472-E18F-4C5A-A053-C384D0D7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4762500" cy="4495800"/>
          </a:xfrm>
          <a:prstGeom xmlns:a="http://schemas.openxmlformats.org/drawingml/2006/main" prst="roundRect">
            <a:avLst>
              <a:gd name="adj" fmla="val 2542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6C39F3-6559-42DC-857E-449D5301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17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FFD4B4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FFD4B4"/>
                </a:solidFill>
                <a:latin typeface="Consolas"/>
                <a:ea typeface="Consolas"/>
                <a:cs typeface="Consolas"/>
              </a:rPr>
              <a:t>finder-project/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319CC2-F08A-45A8-B584-9FDEDBD9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17195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firmware/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common/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packet.h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lilygo_t3_v161.h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node/node.ino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handset/handset.ino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handset/hybrid_bridge_check/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hybrid_bridge_check.ino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sim/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mesh_sim.py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test_detour.py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wokwi/mesh-practice/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sketch.ino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fake_radio.h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webdemo/index.html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A2665-F870-4D05-8184-D80C775A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428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D42B2-05AF-4012-9BF9-D24211D5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428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DFD1BC-F872-4C8E-BDFC-0A0C08D2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562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규격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80FDDA-622A-44B2-9E65-E94AFB38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05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packet.h · 핀 정의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패킷 형식과 LILYGO 보드 핀을 한곳에서 관리합니다.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84152B-D6A4-41A5-AFBD-715E04AF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A0F5D-46A5-4514-ADF5-08B99538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81C67-B32D-43E2-8495-0A4B88A0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05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제품 펌웨어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C5214-4EB3-463B-97CF-9857F341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48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node.ino · handset.ino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실물 LoRa 발신/릴레이와 수신·OLED·BLE 기능을 담당합니다.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0CF2C-C8FC-454A-B43B-A662BFFB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14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35788-20BF-4378-9433-5CB4D370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14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205275-02FD-499E-A7F0-8740CA8B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848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EC2B3F-636B-498C-8F52-3B707162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191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hybrid_bridge_check.ino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MQTT로 받은 가상 메시를 실제 D의 OLED·BLE로 연결합니다.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2F2156-F7C7-4DE8-8812-B06F1F1F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857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7343B-ACBD-43E4-AF7E-5E740B44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857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68DAB7-C025-49B0-A4FE-C8DAD212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991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시험 도구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0599CE-DB5D-4DE3-824B-7A2966A5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334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mesh_sim.py · Wokwi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토폴로지·노드 중단·중복 억제와 메시 흐름을 반복 확인합니다.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121889-9B2A-4070-9EEE-7D4FBD2F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543550"/>
            <a:ext cx="57721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B0EA2-E532-4D2A-A528-1605F5C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00700"/>
            <a:ext cx="550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모든 시험 코드는 같은 FinderPacket 의미를 유지하도록 작성했습니다.</a:t>
            </a:r>
          </a:p>
        </p:txBody>
      </p:sp>
    </p:spTree>
    <p:extLst>
      <p:ext uri="{BB962C8B-B14F-4D97-AF65-F5344CB8AC3E}">
        <p14:creationId xmlns:p14="http://schemas.microsoft.com/office/powerpoint/2010/main" val="10343762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D5605A-79C0-4F1E-9571-E4DA832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5A1C4-4336-4087-B248-B6B8BA11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A3CBB-C4E0-4E5F-84CC-C86F633D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보드 배송 전 혼합 검증 아키텍처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443747-FEE8-4663-8CAE-BE68154B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55719-822D-436E-A06B-5D3B8524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31356-00ED-4B29-B98D-B063F08E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12CDEA-2F26-4509-AC4F-60EF0D82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95400"/>
            <a:ext cx="108775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D4E103-A194-471E-8AF3-F9AB337E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1061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MQTT는 LoRa를 대신한 시험용 전송 통로입니다. 최종 제품의 통신 방식으로 주장하지 않습니다.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C04A8-D015-45D7-915A-BAEF6F3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190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16911-CA0F-4D7A-AC1B-9E2D86AD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Wokwi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0BE93-FBAB-4614-A68D-BEF96784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 / B / C 가상 노드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419D7-39FF-42A6-A61D-D8B56434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57400"/>
            <a:ext cx="2190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BE1A37-B35F-475B-8B5E-391CB2C6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52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MQTT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40569-D385-4DE4-B9CD-E6C510EA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시험 메시지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782E2B-311B-42BD-BF3A-550552F1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57400"/>
            <a:ext cx="2571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4AA10-7982-4A0D-B924-58B42190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실물 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BE4D79-5097-44AE-AECE-908D6BA5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146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Wi-Fi 수신 → OLED/BLE</a:t>
            </a:r>
          </a:p>
        </p:txBody>
      </p:sp>
      <p:cxnSp>
        <p:nvCxnSpPr>
          <p:cNvPr id="52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067050" y="24765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667500" y="24765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77C43F-37D9-4528-BF06-EDA4E0C0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336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fake_radio.h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28D2E2-B181-424D-A81D-D5775CD1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336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PubSubClient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964C1-CDBD-428C-821D-DCEE5D95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4700"/>
            <a:ext cx="52578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E3FF9B-8B9A-40C1-BCF0-DD366013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477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224428-9FB0-4C9E-9A4B-736B326E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5483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A·B·C Wokwi 프로젝트 탭을 한 화면에 배치하고 각 시리얼 로그가 보이도록 캡처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F9843-01BA-4693-A0D9-427DB00A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91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AC9237-D844-4701-8ED4-3E8CD8A8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9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6D792B-D1A6-4A7C-89BF-E4D28AB1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455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Wokwi의 A·B·C 가상 노드가 동시에 실행되는 시험 화면입니다.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CBCD00-2D84-49CF-9FC1-C7E458C9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52578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41644F-59B9-4C00-824B-64700228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7477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3E1117-BB1D-4B1B-8608-7C371346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483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USB·안테나가 연결된 실물 D 보드와 OLED 화면을 함께 촬영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AEF6B6-8455-4923-A4CC-45F68CA7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91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2DABAA-4D96-4DA7-8FD5-CE1320E2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19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A08299-6EC5-401D-9D3D-3E45F64C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455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가상 메시를 받아 OLED와 BLE를 구동한 실물 수신 단말 D입니다.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936718-BA2C-405D-8DDD-55870F6F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67400"/>
            <a:ext cx="1078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시험에서 확인한 것: 경로 데이터 처리 · OLED 표시 · BLE 광고 갱신 · B 중단 시 C 경로 전환</a:t>
            </a:r>
          </a:p>
        </p:txBody>
      </p:sp>
    </p:spTree>
    <p:extLst>
      <p:ext uri="{BB962C8B-B14F-4D97-AF65-F5344CB8AC3E}">
        <p14:creationId xmlns:p14="http://schemas.microsoft.com/office/powerpoint/2010/main" val="12721614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01F7C2-2B10-49BB-8CCF-EEA54959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A161A-C0C9-47F9-907A-F93B6638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3C6010-B398-4952-8D26-FC25A939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결정적 시연 절차: B 중단 후 C로 우회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0189E-8FF4-4977-9205-6AB0F08E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8716E-5AE0-42AE-8F61-EE6B2D98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3DA2D-B0C0-47C5-915F-269443C4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FF74C-CDDE-4047-BFBC-9644FD3B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114800" cy="443865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E04FD-4C08-4CF8-845E-FB811B57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443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4DBCE-96F5-4270-A6E0-762DD117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촬영·시연 순서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BEC6E-CC37-485B-B49E-4422A726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E155FB-2680-4B2D-934F-0E20B8C7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EC95AF-2FC2-49E9-B50D-F3BC298A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0500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실물 D를 켜고 MQTT 구독·OLED·BLE 초기화를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39F531-8D1D-4F72-A32B-CED110C7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C5063-8016-4C76-ADE3-CFD191BE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D85C05-8FE5-4F68-B2B4-979160AE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4795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A, B, C를 실행하고 A의 발신 로그를 확인합니다.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E48F7F-35BC-4868-A697-058DBACF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25477-0576-4B0D-97BE-8A2B0AC6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58E6CD-34D8-4D28-A897-57489FAE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9090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D의 OLED에서 A → B → D 경로를 확인합니다.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3052A6-FDB7-4D16-A317-5892599C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D7B42E-33C6-4510-AEE0-B88D997E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14A26A-C8AC-4291-93CA-825CC764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3385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 프로젝트의 실행을 중지하고 A와 C는 계속 실행합니다.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FDA341-F113-4050-985A-213663A5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F1F819-1B97-49A2-B59B-F48AD985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E55EE-1D87-449C-992F-F6103097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87680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D가 A → C → D로 다시 수신하는 장면을 확인합니다.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93BD5E-49FC-4F59-80F0-D2E0546C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90650"/>
            <a:ext cx="2857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81E78D-84A6-4513-A4A1-3FC991FD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4478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정상 경로  A → B → 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4E0C8C-F03A-4F4C-B378-09E6A7DD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90650"/>
            <a:ext cx="3181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747666-4699-4F99-A8DB-FF02C5CE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44780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우회 경로  A → C → 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D37D2C-5585-4574-B992-B4FC922F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717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5FD849-2BC5-4E48-ACA3-33003E21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3845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8A1FF0-27ED-4F65-B3A4-6C3410B4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409950"/>
            <a:ext cx="2514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23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B가 실행 중일 때 B의 릴레이 로그와 D의 A→B→D 표시가 함께 보이는 캡처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462C8E-B433-49CA-BF8F-7D37EE14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29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FA3A32-58B0-464C-AD88-6CF1D400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657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56E94A-02DB-4F69-A6FF-DB7D1198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196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B가 동작할 때 확인한 정상 경로입니다.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0CEFDD-2243-4A5B-94B8-BA95E55A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717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C7E393-42B4-40D1-B2BB-39DAA0B9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3845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B8E2EF-B972-4F60-9F5A-944C49B7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9950"/>
            <a:ext cx="2514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23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B 중지 표시, C 릴레이 로그, D의 A→C→D 표시가 보이는 캡처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90B49F-D0B0-4209-8F27-F10385E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FDAEBE-4512-45F2-A142-CF5D76AC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57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CE5479-B853-4A38-AF17-76A5BAB6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196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79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B를 중단한 뒤 C로 전환된 우회 경로입니다.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6224DE9-236F-4A65-8721-475B0DA9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19700"/>
            <a:ext cx="6419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6AB5AC-6AD2-4019-B219-BF36F3EC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276850"/>
            <a:ext cx="615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영상에서는 B를 중지하는 장면과 D의 경로 변경을 끊지 않고 연속 촬영합니다.</a:t>
            </a:r>
          </a:p>
        </p:txBody>
      </p:sp>
    </p:spTree>
    <p:extLst>
      <p:ext uri="{BB962C8B-B14F-4D97-AF65-F5344CB8AC3E}">
        <p14:creationId xmlns:p14="http://schemas.microsoft.com/office/powerpoint/2010/main" val="371698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489680-3CC0-4E9E-B2CA-D4568994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A1235-19BC-4E43-8BA9-23795E72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3CEA1-E2C0-46D7-B33F-77FBCE9C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실물 수신 단말 D: OLED 표시와 BLE 재방송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042E3-5E47-4F14-967C-606EB4A3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12C4F-7DE5-4770-85F1-3163034E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89725-F26E-4341-AACD-ECE47D14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594A9-558C-4CAD-9CA9-E322EBE0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43434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A019A-1B19-44A5-ABA4-4F485759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67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A91D45-625F-479D-9E0C-FE88FF4F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OLED 표시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D3229C-1768-4209-A580-2ABFBACE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39814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Facility : AED/소화전/화장실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Path : A → B/C → 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MSG # : 메시지 번호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TTL : 남은 릴레이 횟수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Link : 시험 연결 상태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90914-404C-423D-AE59-3992FFBE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62350"/>
            <a:ext cx="43434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38FCB-79FA-4FED-AB9C-68EAFE24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6235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7185A6-08A1-4879-9231-3D341CFF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BLE 광고 데이터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199467-60E4-493C-B987-752A7D18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9814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이름: Finder-D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Manufacturer data: 11바이트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버전 · 시설 종류 · 상태 · src · lastHop · msgId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0xFFFF는 시험 식별자이며 등록 Company ID로 주장하지 않습니다.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757DA9-98E9-4077-A19B-1608AA3F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409700"/>
            <a:ext cx="6000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A79CE-D647-49C8-BBF1-9FEDC612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05762"/>
            <a:ext cx="569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15DB8-7EC4-442B-B348-AE8B2FA0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30958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OLED 글자가 초점에 맞고 Facility, Path, MSG, TTL이 읽히는 근접 사진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D592C-F952-49EE-B8EE-864FBE02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575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31510-8DE1-4E34-913A-803FFF5C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861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349DB3-3663-4425-80F0-FF81CEF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48025"/>
            <a:ext cx="529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수신 패킷의 시설 정보와 경로를 표시한 실제 OLED 화면입니다.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FCAC40-B607-4051-82A3-32C883D5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14750"/>
            <a:ext cx="6000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ACAEFC-DBAE-4C0A-AE4B-DF2353FF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10812"/>
            <a:ext cx="569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F50854-9690-4A12-A7E7-C7E30800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6008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nRF Connect에서 Finder-D를 펼쳐 Complete Local Name과 Manufacturer data가 보이는 화면 캡처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3F2E3E-C4E5-4CFB-A404-5CAB75EF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56260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0916CA-2097-4BC4-B1F8-9CF2B6B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591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601B94-6150-4E9B-BFD8-878F904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553075"/>
            <a:ext cx="529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Finder-D BLE 광고와 Manufacturer data를 스마트폰에서 확인한 결과입니다.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CBB40C-5D11-4A15-8A23-11B077CC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019800"/>
            <a:ext cx="596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BLE는 연결하지 않고 광고 패킷을 스캔하여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895770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A886DE-C6D3-49CB-931E-0DDAD183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E8A8D-BF45-4584-B67F-4815B5E1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04 OBSTACLES &amp; SOLUTIONS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06BAF-01F0-44BD-83CB-BADE1D32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난관 1: 보드 배송 지연과 모델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1B576-D1C8-47AF-A2F3-28D7D83F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7F462-CA7C-4D3C-A355-C4899ADB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06436A-018C-4F1C-A7B0-996D6219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9173A-5401-46E0-84EE-1A6B5A2B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55626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A66547-278D-43AE-B7AB-E8D14EA6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37157-DE65-4B28-BA79-32609005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54FD2-8E4D-43E7-B9E1-751B9D2B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5200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제출 직전까지 실물 보드가 1대뿐이어서 A·B·C·D 4대 LoRa 무선 시험을 바로 진행할 수 없었습니다.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6464-2640-4C14-865B-382ECC49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55626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B8E3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94014-234B-44F5-9E15-4E5175F4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666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10B86-6539-43C2-ABE9-1650891F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해결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17AECE-8455-4535-80AF-051FFCCC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5200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무선 전송 계층을 분리하고 Wokwi A/B/C가 MQTT로 패킷을 보내도록 구성했습니다. 실제 D는 같은 패킷을 받아 OLED와 BLE를 구동했습니다.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BAFAB-EB2F-4EE4-97BA-7D15B26C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55626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8D0B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ED81-2C0A-48F0-87B4-DAC430A6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AC76E2-846E-43AC-8705-EAE3CC49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정직한 한계 표시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8E25F-18C6-4E7D-ABAC-3FA6037D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5200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혼합 검증 결과를 실제 LoRa 거리·RSSI·4대 RF 성공으로 표현하지 않습니다.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B7EEB-8ADA-41D6-A925-3FEB88EB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62100"/>
            <a:ext cx="4724400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77E7DF-270B-47CE-8225-694D7F0A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47544"/>
            <a:ext cx="441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714572-9D6C-4F08-93E1-FC563FC6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06496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실제 보드 뒷면의 433/470MHz 및 T3 V1.6.1 라벨을 선명하게 촬영한 사진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F23AE2-00B6-4BF6-9ACC-3A54B59C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A040DD-499B-4BE6-9889-2D26A604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29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966CF9-273F-4FC3-BBE4-6C2CB01D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791075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배송된 실물 보드의 모델·주파수 표기를 확인한 사진입니다.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91E170-F266-4B89-AB85-DA76F293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14950"/>
            <a:ext cx="47244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F1D9A6-A3AC-4C3C-8F42-586A407B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7210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후속 조치: 동일 모델 3대 도착 후 A/B/C/D에 펌웨어를 올려 RF 우회 시험을 반복합니다.</a:t>
            </a:r>
          </a:p>
        </p:txBody>
      </p:sp>
    </p:spTree>
    <p:extLst>
      <p:ext uri="{BB962C8B-B14F-4D97-AF65-F5344CB8AC3E}">
        <p14:creationId xmlns:p14="http://schemas.microsoft.com/office/powerpoint/2010/main" val="13223381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7A84C3-BF07-4C8B-AC80-E7647ACB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C7F9A-CD30-4E6C-B004-F40AE47A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04 OBSTACLES &amp; SOLUTIONS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BE593-DBEC-420F-8E54-5ED062B0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난관 2: 직접 수신·중복 패킷이 우회 시연을 가리는 문제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9FE97E-2BCE-4EF3-9DA5-DF7E2413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5D1904-A88D-48B8-A766-E5691D20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22D0C-FD6F-4DA8-A5FF-1F507A24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443DF-6C17-46ED-A292-05A1F3C4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10877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8A117-4FE7-4871-972A-3B0063A0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1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플러딩에서는 같은 msgId가 여러 경로로 도착할 수 있으며, A의 직접 메시지가 먼저 보이면 B/C 중계 여부를 판단하기 어렵습니다.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CA5460-2718-4B61-A674-900D1867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0AE1BF-BB64-414C-81D8-9A4AD1E9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F6B4E1-C6B6-4BC0-A160-31EB622B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발신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E89BA-9FF6-4DA0-83EF-DEF114A4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479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2847C4-B50A-469F-967E-7502248F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66F20-A827-4A1D-8C62-9C0D6D08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051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0499A-BAD1-4AD0-B3F4-5370FE1E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624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FDF70A-0677-40A3-8FC7-E58DCEEE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576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19DF31-8DB4-4A01-BB5C-3BDF4C94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9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5F1C97-1EF4-423F-B765-F8E7B857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402EF4-6E88-48FE-9491-8326D864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9527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0A66D0-1880-4B33-B26B-500099A5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147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표시</a:t>
            </a:r>
          </a:p>
        </p:txBody>
      </p:sp>
      <p:cxnSp>
        <p:nvCxnSpPr>
          <p:cNvPr id="61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2228850" y="2647950"/>
            <a:ext cx="1028700" cy="609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228850" y="3257550"/>
            <a:ext cx="102870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686300" y="2647950"/>
            <a:ext cx="1123950" cy="609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4686300" y="3257550"/>
            <a:ext cx="112395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819ED2-C819-45D1-9508-08D6AB33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1813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08CF6A-5381-4915-967F-1A04A821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575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직접 A→D 경로는 혼합 시연에서 제외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C015B2-8DE6-48FF-9EBC-690083F8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28850"/>
            <a:ext cx="3657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929686-AFB1-4664-B3EB-6D9D4AA5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2885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95B073-6C8F-4735-A424-766DE4F8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msgId 캐시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B4756D-C0AA-4C72-A67E-A72BEFF0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같은 메시지를 다시 받으면 폐기하여 OLED가 중복 갱신되지 않도록 합니다.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DFDB91-8A1E-4327-8B5E-4383C1C7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05200"/>
            <a:ext cx="3657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2436C7-8098-4051-B40C-10BC9C8B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052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943452-0572-46D4-A4B1-256F0A86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lastHop 기록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986358-2F15-4500-81D8-AEF8B5C4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8145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직전 중계 노드를 기록하여 D가 A→B/C→D 경로를 표시합니다.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818DC7-5D33-4E3D-9C55-BBCA6FF7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3657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3EFBD8-F0D9-4F44-88E9-5AFF60EA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D4ACD1-F62E-4EE2-9E25-02983398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1490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시험 토폴로지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D7B859-0101-4A6F-AA13-7A415320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578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가상 링크를 A–B–D, A–C–D로 제한하여 중계 전환을 명확히 봅니다.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BE74AB-A58C-494A-9A59-799E1D4D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67350"/>
            <a:ext cx="108775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9F70D61-0B22-4D18-92F0-73B203C0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610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결과: B를 중지하면 C 경로가 화면에 나타나므로 우회 여부를 사람이 즉시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127887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4FF98AC-BC6A-47E3-A41D-DAB4210D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FB1E8-29C6-4678-BC1A-6EAC3546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05 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1BE94-8BC2-4460-89EB-3770EEEF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기능 검증 결과와 증거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7D772-3202-4057-8EF2-EE507074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40019-507D-4160-9E81-A6ABB673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E4555-7341-4F09-A74B-19461EDC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32858-90E1-4ECC-B23D-E01378A5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2286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0C064-8584-4852-831C-7D2B5DCD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시뮬레이터 4종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346E99-2EDC-4C87-94A3-D5A0CB0C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333500"/>
            <a:ext cx="2286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48257E-5339-4263-BD60-18257AAF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36207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혼합 시연 3종 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EADED-C9AD-4EBA-8129-483BA1CA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190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959C1-DDA7-4105-AC54-22281FDB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62075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4대 LoRa RF: 후속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1CBA4D-E517-451A-ADBD-E2246752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2880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4C446A-C6E9-4981-A9E2-8280A377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6690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시험 항목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BC2F8-3F7D-4244-BBDC-43C7CC0D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2880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9E067-9B05-40FE-9049-621A3F32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6690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882FF5-D93A-40D4-B2BD-F22DD559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82880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A2DCE7-FB85-454F-8527-967F35A2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6690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내용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11EE0B-61AD-4010-9A6A-ABE952F9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7647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5CD1A5-7DDE-4361-9464-5A95175C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1457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다이아몬드 정상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71F2A-7F1C-49D0-BC76-D208BFE9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7647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5B6404-8776-4CB8-BD33-B594654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1457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F47BFC-DCA1-42FC-9B65-4E83D08F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7647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82376-C6F8-45F4-8634-120A51CB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1457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A→B/C→D 도달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EE929F-6744-4E23-98D4-CFB3A4AF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2415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3E3080-49D9-4AC7-B916-5E78D111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 제거 우회 20 seeds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769392-A508-4FA4-AB3D-3D956F5D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2415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C39549-A99F-4678-B79E-9DB39B64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6225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6BD1A7-48AB-4BAE-9CA6-482C6F26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2415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2B6BA8-B7D4-4BE0-8468-E066A70C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6225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A→C→D 유지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8B9863-0B7B-4550-BBCC-49BEEAA4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7182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C7B881-7AC8-4AD0-8253-43F83891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line4 B 제거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3202D5-75C5-4EC6-AA76-E63E40F0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7182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290C17-4E9E-40CC-85CE-4A5FE5D5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0992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예상 실패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3CB9A2-A8E9-4C73-A5CE-237640F7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7182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AF1B55-981A-475B-8667-50D7CD39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0992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대체 경로 없으면 D 미도달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E6E5E8-8B85-49CF-B215-251E35A2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7E72FC-1127-4645-A64E-10BF6FB2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중복 억제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2B90E5-862B-4127-93CB-51C3338B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1950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F57525-3E76-4601-9587-EC24CAFB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CC1187-4C6C-4C66-B243-EC62990D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1950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745B05-0E88-4534-BD07-24B94ADE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65760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같은 msgId 1회 처리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E676A-EF8B-433F-98F4-78F8E617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19BB61-1BC3-49C3-A69D-1FBCDA32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0527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정상 경로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235FBA-F752-406E-8971-C4D2C491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6717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778DE4-9687-45BC-B121-BC8775BD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10527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BD51C0-F90E-4F36-A65B-393C0A17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06717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1ABC59-2F7C-4A75-810A-32233C48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10527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OLED A→B→D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BE061EA-3082-4A59-993D-A8FFCD12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E66EF5-A7F9-4B96-91D5-C750D0AB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우회 경로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62DAE6B-34B4-419E-AEB9-57C13D2F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1485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A24E60-1F7E-4A7B-8EA2-62C98336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5295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18999B6-FAD6-4BD1-8D21-DF2619DB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51485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765E4F-35D1-4429-A615-276D041A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55295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 중지 후 A→C→D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2A8612-7027-42C4-8ED5-2A309C94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6252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A8B54A-CB18-4B3C-AA6C-1A71DDE4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0062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BLE 광고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42934A1-33AA-4FAC-A490-B47D1DE0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96252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E146743-6EB7-4F7C-AACE-02D0528C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00062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734A0-D3AB-4AF2-9B15-03CDD8F2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96252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EFE6F5-1E1D-4958-A931-C1C9C521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0062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Finder-D Manufacturer data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F2A7FAC-E51C-42A0-80B5-45571A3C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28800"/>
            <a:ext cx="3848100" cy="24003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2789B66-3B60-4DD5-BDAA-6DEA95CC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00884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3885388-14E9-4BD6-8C13-8A6CA5F1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76956"/>
            <a:ext cx="331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Python 테스트 실행 결과와 B 제거 우회 로그가 한 화면에 보이는 터미널 캡처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9072678-70E5-457B-9886-422E1973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0530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0A8B8BE-C6BF-44B3-8552-3D5C6AFF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338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11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5731FF-1756-4A40-9BE3-F046548F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9577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시뮬레이터 회귀 시험과 우회 수신 로그입니다.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C30A90E-5762-40A5-BDEB-D360B5EE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76800"/>
            <a:ext cx="3848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41E0764-A858-429B-9F59-1D9DB329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768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2CA3651-309F-4A1D-B01A-ECF87159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10150"/>
            <a:ext cx="3486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수치 해석 주의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8FEAAAC-3FCE-4BCC-8247-711658A6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53050"/>
            <a:ext cx="3486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seed 42에서 D 수신 293 ms는 이산 이벤트 시뮬레이션 예시이며 실제 LoRa 지연 시간이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7956543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0913C3-5908-44A3-BEDF-53C5D8FC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AFBBF-9ADC-41DA-BA33-279388CE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06 DIFFERENTIATION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11F7BB-AD99-41C9-B978-EB9E000B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기술적 차별성과 설계 의도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8C954-F49F-45E4-AA94-62E4B83C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0A402-9075-408C-92E7-019487C1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F27688-0B7E-44C6-9F83-28A073B2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AF97C-8F3E-468D-B409-D4158321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3D985-FB8E-4314-BDC3-2D20A1AD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4EFD8-C883-4F1E-8181-76AF1338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3계층 연속 안내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67E36-8A28-4437-B712-CCED7BD5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지도·BLE·메시를 상황에 따라 이어 한 방식의 통신에만 의존하지 않습니다.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E1981-CDDB-40AD-A843-4AAAD561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3830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BF1C2-F91D-49A2-86D3-2C16EAE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6668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AF585F-C373-4B24-8AF8-9A366911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6685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BC7C3F-7551-4296-BC0C-9708F4B9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6685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08A09-C219-4DB9-BDDC-610462C8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002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단일 장애점 완화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B7D471-0839-4354-BC0B-AA62EEF4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4310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B가 중단되어도 C 경로가 남으면 같은 메시지를 D로 전달합니다.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B4AA24-A0CD-4070-B48C-D7F38A62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3830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3F5789-1B7D-47A0-8195-0554C65F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6668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0B89AF-9785-4A0E-8E1B-D02F590C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8140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0CA376-5E28-40C7-B099-D081EBC7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8140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A7EE80-5FE0-47BD-97FD-0DD9B594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수신 후 지역 재방송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4C8988-C890-4BB5-8575-69383596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D가 LoRa/시험 메시지를 BLE 광고로 바꾸어 주변 스마트폰이 확인할 수 있습니다.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D05422-AA74-4335-9945-E7352F7F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5285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EDC88-DABD-4D0B-898F-210B2189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814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ECE85F-677F-4E33-9F28-5B645166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8140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818A1D-5A07-474A-9B72-1B3120B4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8140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A9FFD2-21E4-4301-84A3-396F2899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147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검증 가능한 공통 규격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8ED696-490F-41CF-99C4-901D6A80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5765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9바이트 패킷을 펌웨어·Wokwi·Python에서 함께 사용해 동작을 비교합니다.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F4EE22-A6F7-4CB2-A554-00D8B3EF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75285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8822C1-C175-4BB6-8860-C835A1D5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7814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A3EE29-4AC3-4B4F-8BAD-D535CE5B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53100"/>
            <a:ext cx="106870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61F808-60B6-4F15-B515-35CAF12E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핵심은 ‘최장 거리’가 아니라, 노드 하나가 중단되어도 다른 경로로 시설 정보가 이어지는 구조입니다.</a:t>
            </a:r>
          </a:p>
        </p:txBody>
      </p:sp>
    </p:spTree>
    <p:extLst>
      <p:ext uri="{BB962C8B-B14F-4D97-AF65-F5344CB8AC3E}">
        <p14:creationId xmlns:p14="http://schemas.microsoft.com/office/powerpoint/2010/main" val="17870781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30AA47-22BE-4AF7-A827-8EC27141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C725B-7036-4A04-8030-C9D87EDB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07 IMPACT &amp;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A72AA8-4FE6-439D-A420-F8B98F38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기대효과·활용성·발전 계획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2B856-DB09-485C-AD22-29C23552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F4686-1330-41F5-B3BE-E7B0BD80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68093-53BE-4376-A13B-8F6AE1A6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C38C8-EF94-445A-82D5-183278D7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F10EC-C2FF-4B71-AE65-E06DA3E9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4762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C9C59-A759-4C0E-AB5B-3966F4EA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45E48-4608-4AC9-BD24-C6FFBD63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신속성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CA2ED3-92F1-4BF8-BFC0-453B6645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400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시설명과 경로를 한 화면에서 확인하여 탐색 시간을 줄이는 방향입니다.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B029C-BF3C-4EB2-B4E3-E55112E8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19450"/>
            <a:ext cx="4762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21923-0C2E-4F5D-8A79-A55C0156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194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995B46-9091-4FC8-960D-1E16496D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회복력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A9A5EB-4CFB-415C-B495-94D22F3D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400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하나가 꺼져도 다른 경로가 있으면 전달을 이어갈 수 있습니다.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CC9D2D-3ADC-480F-BD9E-D0D0E41E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4762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A5803-1FD8-4B37-859B-616FAB10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04C33E-D47E-4E46-A1B7-D1036EFA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확장성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8F270F-2888-4035-A634-150CFF07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4400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AED 외에 소화전·화장실·대피소 등 시설 유형을 추가할 수 있습니다.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35BF94-F497-46CE-908A-DB07511C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3906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후속 개발 로드맵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994684-379B-46C5-BE91-27989ED3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3D48E-3370-4762-A19F-93F2BF07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05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CCE32D-28B2-4902-8B5B-15D8731B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66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4대 실물 RF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7EFA2F-1360-438B-94F9-9073384A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717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동일 보드 4대에 펌웨어를 올려 B 전원 제거 우회를 재검증합니다.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683DD8-6C8C-4146-9151-20EC68D9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71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994AEF-73A5-4FD9-8A5C-142D7698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718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B21CF9-8B90-43FD-BD4E-25862572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거리·RSSI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21E836-F1EF-4667-BB5D-B95497FA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385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여러 장소에서 RSSI·수신률·지연을 기록하고 과장 없이 범위를 정합니다.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4FA7DD-1B4E-4E24-9C7F-791DFE22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C39744-7B61-4C42-AC07-2358B363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386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0FF211-452C-4647-AA93-D875031F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00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웹 데이터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5B4163-8C27-4E0A-AAE2-1E2BDCF8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05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공공데이터 CSV 스키마를 확인해 현재 위치 기준 최근접 시설을 연결합니다.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1D440A-502A-44D6-8985-053B3FC9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1054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214C7A-9C3B-4002-9077-9FC409FC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105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21A342-CFD3-49FC-8884-8089875A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673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현장 협의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80EF5D-BD92-4F51-8E06-F2BAABD1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3721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설치 주체·관리 기관과 안전·전원·전파 조건을 검토한 뒤 실증합니다.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9ABA01-2862-48D6-8379-D2EA1796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10250"/>
            <a:ext cx="53340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37C0F0-A668-4EA2-B2A9-17CBD30D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8674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61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실생활 적용 전에는 무선 적합성·시설 관리 주체·비상 안내 책임 범위를 반드시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91070775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0206D2-01BF-4A0B-9626-681B5E38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05106-28A7-4EAE-A016-1E18FF92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08 SCHEDULE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29D666-7AE1-4AF7-BF91-5C6F0944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개발 일정과 제출 전 마무리 계획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2A431-F17A-4510-A758-714C435E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9CCE0-C464-4FC8-BE0F-F7AAF833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890B4-2871-47E7-A58A-0B202C8C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5EABB-4298-40D3-A735-AC709C64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9810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1117A-B28F-49A4-8587-A6C8470E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713823-51B5-4995-B656-28F315F5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CDF11-23B9-4E77-9CE3-817F2F4E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1DB85-777A-495E-9348-FCD747E1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08.22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3813A-C15D-4A27-BFB1-37B77DCD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구조·규격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A0D00-0328-41AB-82F4-632E382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B53799-CFC2-4E43-9336-1CBED86D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저장소 골격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packet.h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문서 초안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479E14-5040-4FCB-AD89-BF1EFFA1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B2572-DC12-4C7F-87BA-3BC0C77D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655D28-4ABE-4802-954B-7C781F54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00EFD-5DD7-46EB-8B46-85E2ED84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08.29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9504D1-3B5D-4649-A25F-0DADD247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실물 D 구동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46037A-C126-4693-AAB4-6C9A4E9C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96D89B-0F9D-4318-954B-BF3247FD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Arduino 업로드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OLED·Wi-Fi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BLE 초기화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8AF3AA-B837-483C-B195-249A7AF1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97A72B-8A2D-4B7E-A542-9A042B0D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9781D-2B62-47B5-B938-EE4C7D2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8C8B2A-45DF-4F5F-99AA-FB3BC862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08.31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4DCAF1-9E06-4C40-9510-AAB2D6F4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검증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5787E1-1852-4F42-87CE-360B784E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1B941-D06A-47D3-A61D-19C213D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LILYGO 변환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A/B/C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MQTT 브리지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69285C-FA6E-4C6B-8A2D-EA0EFF54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7F2BB7-7F90-4C7B-85B1-0207DEA6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E5034F-138C-42B3-84D9-9948802A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419A76-B2E4-40A5-8690-F80FEF23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09.01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B2A9A4-5024-461E-8CB7-37FB168A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우회·BLE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4FB008-DF2F-42CF-B7E7-B654B5E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87936A-3556-4429-B0F5-E4EE1B8A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 중단 우회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nRF Connect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영상 장면 점검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BBE2C8-EDD5-44A0-BE06-4A657824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4248E8-1895-4723-92AA-8DBADF10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B09DC3-96E0-4739-B02F-02D859C4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8585FD-8A9F-46C6-8095-EBFDC543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09.02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DFD0BD-C5F1-4FCF-8B35-BEBA171B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제출물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73833E-0CDE-4473-B328-44F7ED75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064C54-4FDD-4A0B-818E-7C10F7E4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신청서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완료보고서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역할 정리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836CD3-1F05-4E06-BBF7-02A44488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C24D0F-4E04-4D81-9301-20F1DF1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4523E6-A015-4A59-B55A-8D0258D3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634828-5758-4890-8E43-91C6EC5D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09.03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FDD7036-8BD0-4888-A93E-3202CE3F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E05D3D-713F-40FA-9229-0614F28A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8B5700-CC0C-4681-9B6F-2B682F32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사진·링크 교체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PDF 변환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13:00 제출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269CF8-3027-45A9-ACAF-3B02CA3F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67350"/>
            <a:ext cx="10858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341943-1CC4-44BE-AA95-9769DEEC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59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 후 계획: 동일 보드 3대 도착 → 4대 LoRa RF 우회 → 거리·RSSI 기록 → 웹 공공데이터 연결</a:t>
            </a:r>
          </a:p>
        </p:txBody>
      </p:sp>
    </p:spTree>
    <p:extLst>
      <p:ext uri="{BB962C8B-B14F-4D97-AF65-F5344CB8AC3E}">
        <p14:creationId xmlns:p14="http://schemas.microsoft.com/office/powerpoint/2010/main" val="13614803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BA49A3-14B8-4E13-A9B2-3DF288E8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E962F7-7D8E-4FEB-8836-824C9155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09 TEAM &amp;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2BC66-CE45-4ECD-8516-CDFFF212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역할 분담·AI 활용·제출 전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E7CC3-A219-45A0-A482-FFB5C055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BF051-12B0-47DB-84C8-777113B4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D52340-661E-4ADE-A630-375F87CE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AD3977-E7BE-4A4E-921D-63AE3FEA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5219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8D0B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F38EE-BA14-4743-9185-7575BFDA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C9B99-37BA-4B08-AB7A-A59F665C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김민수 · 팀장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092D2-FA48-4EF7-ABC0-97B84A90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코드 흐름 이해와 설명 · Wokwi/로그 확인 · 시연 영상 진행 · 발표 및 최종 제출 내용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FE5487-3627-4BCD-BC57-41396848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5219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BDE3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4CD56-E3CD-47CD-90CA-98F41376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54B3A7-CE8B-496F-916E-8CD4EEA7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멘토·개발 지원자 · [성명 확인 필요]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F592B0-C97B-4760-A166-B4CDB356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시스템 설계 · 펌웨어/시뮬레이터/웹 초안 · 실물 D 통합 · 문서 작성 지원 · GitHub 리뷰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867D2-2FE7-440F-BACA-306F9115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52197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A1B64F-2AF9-419A-9EA9-B484FD80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47E1DA-8A8E-403F-8471-1F36C889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AI 활용 원칙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08BB3-521D-4734-9410-997A17F3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코드·문서 초안, 오류 진단, 반복 시험을 보조받았습니다. 최종 동작 확인과 제출 판단은 사람이 수행하고 역할을 공개합니다.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12013E-FE11-44F7-B0AD-2D753352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52578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9B911C-971F-437C-8E5D-4780BC4B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20062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1AD09F-517D-42DB-B622-19E2184F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59558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민수와 온라인 멘토링 화면 또는 GitHub Pull Request 검토 화면. 개인정보가 보이지 않도록 자릅니다.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8C9EA6-3D82-46D9-9E8C-2AA530FF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68FF67-1ABF-444B-B0C9-C8BAD8DE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433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E00982-4F8E-4F83-907F-6550348B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05225"/>
            <a:ext cx="455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온라인 협업 및 Pull Request 기반 검토 과정입니다.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1FA4F5-F1BC-40C9-AED9-67569356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52578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B93F61-7B2E-41AC-A66F-8A5BB5FD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066B70-CBAE-4C4D-AD7E-5A9EE6E1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62450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 전 반드시 교체·확인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A9B7C8-22CE-4CFB-8367-27FE0CEB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4686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참가신청서의 학교·학과·학년·연락처·이메일·생년월일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개인정보 수집·이용 동의 체크와 팀원 구성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PPT의 모든 (사진) 박스와 Fig 캡션 일치 여부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YouTube 링크·팀번호·멘토 성명과 PDF 변환 결과</a:t>
            </a:r>
          </a:p>
        </p:txBody>
      </p:sp>
    </p:spTree>
    <p:extLst>
      <p:ext uri="{BB962C8B-B14F-4D97-AF65-F5344CB8AC3E}">
        <p14:creationId xmlns:p14="http://schemas.microsoft.com/office/powerpoint/2010/main" val="10533973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2026-09-02T02:57:50.1380000Z</dcterms:created>
  <dcterms:modified xsi:type="dcterms:W3CDTF">2026-09-02T02:57:50.1380000Z</dcterms:modified>
</coreProperties>
</file>