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349f7f3b1f4e69" /><Relationship Type="http://schemas.openxmlformats.org/officeDocument/2006/relationships/extended-properties" Target="/docProps/app.xml" Id="R080c9a3eb8ae49f9" /><Relationship Type="http://schemas.openxmlformats.org/officeDocument/2006/relationships/officeDocument" Target="/ppt/presentation.xml" Id="Rb54752484d574c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97ee2d578d144cf"/>
  </p:sldMasterIdLst>
  <p:notesMasterIdLst>
    <p:notesMasterId xmlns:r="http://schemas.openxmlformats.org/officeDocument/2006/relationships" r:id="R998c4b3dcfb84241"/>
  </p:notesMasterIdLst>
  <p:sldIdLst>
    <p:sldId xmlns:r="http://schemas.openxmlformats.org/officeDocument/2006/relationships" id="256" r:id="Rc2ecce46452c4dc0"/>
    <p:sldId xmlns:r="http://schemas.openxmlformats.org/officeDocument/2006/relationships" id="257" r:id="Rc45c3b48be0540cb"/>
    <p:sldId xmlns:r="http://schemas.openxmlformats.org/officeDocument/2006/relationships" id="258" r:id="R9aac72f4ea624a7e"/>
    <p:sldId xmlns:r="http://schemas.openxmlformats.org/officeDocument/2006/relationships" id="259" r:id="Rd714214425d94905"/>
    <p:sldId xmlns:r="http://schemas.openxmlformats.org/officeDocument/2006/relationships" id="260" r:id="R41de5a49b7c74843"/>
    <p:sldId xmlns:r="http://schemas.openxmlformats.org/officeDocument/2006/relationships" id="261" r:id="R85b3e7b9f9124b8c"/>
    <p:sldId xmlns:r="http://schemas.openxmlformats.org/officeDocument/2006/relationships" id="262" r:id="R8ef4afeacb004dd0"/>
    <p:sldId xmlns:r="http://schemas.openxmlformats.org/officeDocument/2006/relationships" id="263" r:id="R081f960204014ae4"/>
    <p:sldId xmlns:r="http://schemas.openxmlformats.org/officeDocument/2006/relationships" id="264" r:id="Rf8e834b2d96a4a57"/>
    <p:sldId xmlns:r="http://schemas.openxmlformats.org/officeDocument/2006/relationships" id="265" r:id="Rf103f8cde97a4913"/>
    <p:sldId xmlns:r="http://schemas.openxmlformats.org/officeDocument/2006/relationships" id="266" r:id="Rfc79da22394e432d"/>
    <p:sldId xmlns:r="http://schemas.openxmlformats.org/officeDocument/2006/relationships" id="267" r:id="R11501ddc08324f53"/>
    <p:sldId xmlns:r="http://schemas.openxmlformats.org/officeDocument/2006/relationships" id="268" r:id="R435d569a0ac9468b"/>
    <p:sldId xmlns:r="http://schemas.openxmlformats.org/officeDocument/2006/relationships" id="269" r:id="R2942ab4a9ee14ab6"/>
    <p:sldId xmlns:r="http://schemas.openxmlformats.org/officeDocument/2006/relationships" id="270" r:id="Rf625a0a7170d4404"/>
    <p:sldId xmlns:r="http://schemas.openxmlformats.org/officeDocument/2006/relationships" id="271" r:id="Rd746b4669fd54ad2"/>
    <p:sldId xmlns:r="http://schemas.openxmlformats.org/officeDocument/2006/relationships" id="272" r:id="Ra815c8b1f5464cf9"/>
    <p:sldId xmlns:r="http://schemas.openxmlformats.org/officeDocument/2006/relationships" id="273" r:id="R7b49741f96a04ff3"/>
    <p:sldId xmlns:r="http://schemas.openxmlformats.org/officeDocument/2006/relationships" id="274" r:id="Rfeb51929fee9443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0d12b5dfd04103" /><Relationship Type="http://schemas.openxmlformats.org/officeDocument/2006/relationships/slideMaster" Target="/ppt/slideMasters/slideMaster1.xml" Id="R497ee2d578d144cf" /><Relationship Type="http://schemas.openxmlformats.org/officeDocument/2006/relationships/notesMaster" Target="/ppt/notesMasters/notesMaster1.xml" Id="R998c4b3dcfb84241" /><Relationship Type="http://schemas.openxmlformats.org/officeDocument/2006/relationships/presProps" Target="/ppt/presProps.xml" Id="R5ba80b9e891442d6" /><Relationship Type="http://schemas.openxmlformats.org/officeDocument/2006/relationships/tableStyles" Target="/ppt/tableStyles.xml" Id="R4dba7d533581439d" /><Relationship Type="http://schemas.openxmlformats.org/officeDocument/2006/relationships/slide" Target="/ppt/slides/slide1.xml" Id="Rc2ecce46452c4dc0" /><Relationship Type="http://schemas.openxmlformats.org/officeDocument/2006/relationships/slide" Target="/ppt/slides/slide2.xml" Id="Rc45c3b48be0540cb" /><Relationship Type="http://schemas.openxmlformats.org/officeDocument/2006/relationships/slide" Target="/ppt/slides/slide3.xml" Id="R9aac72f4ea624a7e" /><Relationship Type="http://schemas.openxmlformats.org/officeDocument/2006/relationships/slide" Target="/ppt/slides/slide4.xml" Id="Rd714214425d94905" /><Relationship Type="http://schemas.openxmlformats.org/officeDocument/2006/relationships/slide" Target="/ppt/slides/slide5.xml" Id="R41de5a49b7c74843" /><Relationship Type="http://schemas.openxmlformats.org/officeDocument/2006/relationships/slide" Target="/ppt/slides/slide6.xml" Id="R85b3e7b9f9124b8c" /><Relationship Type="http://schemas.openxmlformats.org/officeDocument/2006/relationships/slide" Target="/ppt/slides/slide7.xml" Id="R8ef4afeacb004dd0" /><Relationship Type="http://schemas.openxmlformats.org/officeDocument/2006/relationships/slide" Target="/ppt/slides/slide8.xml" Id="R081f960204014ae4" /><Relationship Type="http://schemas.openxmlformats.org/officeDocument/2006/relationships/slide" Target="/ppt/slides/slide9.xml" Id="Rf8e834b2d96a4a57" /><Relationship Type="http://schemas.openxmlformats.org/officeDocument/2006/relationships/slide" Target="/ppt/slides/slide10.xml" Id="Rf103f8cde97a4913" /><Relationship Type="http://schemas.openxmlformats.org/officeDocument/2006/relationships/slide" Target="/ppt/slides/slide11.xml" Id="Rfc79da22394e432d" /><Relationship Type="http://schemas.openxmlformats.org/officeDocument/2006/relationships/slide" Target="/ppt/slides/slide12.xml" Id="R11501ddc08324f53" /><Relationship Type="http://schemas.openxmlformats.org/officeDocument/2006/relationships/slide" Target="/ppt/slides/slide13.xml" Id="R435d569a0ac9468b" /><Relationship Type="http://schemas.openxmlformats.org/officeDocument/2006/relationships/slide" Target="/ppt/slides/slide14.xml" Id="R2942ab4a9ee14ab6" /><Relationship Type="http://schemas.openxmlformats.org/officeDocument/2006/relationships/slide" Target="/ppt/slides/slide15.xml" Id="Rf625a0a7170d4404" /><Relationship Type="http://schemas.openxmlformats.org/officeDocument/2006/relationships/slide" Target="/ppt/slides/slide16.xml" Id="Rd746b4669fd54ad2" /><Relationship Type="http://schemas.openxmlformats.org/officeDocument/2006/relationships/slide" Target="/ppt/slides/slide17.xml" Id="Ra815c8b1f5464cf9" /><Relationship Type="http://schemas.openxmlformats.org/officeDocument/2006/relationships/slide" Target="/ppt/slides/slide18.xml" Id="R7b49741f96a04ff3" /><Relationship Type="http://schemas.openxmlformats.org/officeDocument/2006/relationships/slide" Target="/ppt/slides/slide19.xml" Id="Rfeb51929fee944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2a5b15fb584b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2d9090d2944821" /><Relationship Type="http://schemas.openxmlformats.org/officeDocument/2006/relationships/notesMaster" Target="/ppt/notesMasters/notesMaster1.xml" Id="R409d9b9aa69942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44c834dcbd4c49" /><Relationship Type="http://schemas.openxmlformats.org/officeDocument/2006/relationships/notesMaster" Target="/ppt/notesMasters/notesMaster1.xml" Id="R80f3f1a2baea45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69ccc930bc439e" /><Relationship Type="http://schemas.openxmlformats.org/officeDocument/2006/relationships/notesMaster" Target="/ppt/notesMasters/notesMaster1.xml" Id="Rd85f5e300feb433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0bb12c631e4ff6" /><Relationship Type="http://schemas.openxmlformats.org/officeDocument/2006/relationships/notesMaster" Target="/ppt/notesMasters/notesMaster1.xml" Id="R486a1f827c994b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0bd64010824b8a" /><Relationship Type="http://schemas.openxmlformats.org/officeDocument/2006/relationships/notesMaster" Target="/ppt/notesMasters/notesMaster1.xml" Id="R055199bd59074f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b9d26a0196047c6" /><Relationship Type="http://schemas.openxmlformats.org/officeDocument/2006/relationships/notesMaster" Target="/ppt/notesMasters/notesMaster1.xml" Id="R1f71ef2e36ab46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95c00efe7294d07" /><Relationship Type="http://schemas.openxmlformats.org/officeDocument/2006/relationships/notesMaster" Target="/ppt/notesMasters/notesMaster1.xml" Id="R4ae481140019434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fd7ca9453564c07" /><Relationship Type="http://schemas.openxmlformats.org/officeDocument/2006/relationships/notesMaster" Target="/ppt/notesMasters/notesMaster1.xml" Id="Re8fe1f12c4ad43f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ca2e05dbd24283" /><Relationship Type="http://schemas.openxmlformats.org/officeDocument/2006/relationships/notesMaster" Target="/ppt/notesMasters/notesMaster1.xml" Id="R8f563a0a089a42c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98eca239bed46f2" /><Relationship Type="http://schemas.openxmlformats.org/officeDocument/2006/relationships/notesMaster" Target="/ppt/notesMasters/notesMaster1.xml" Id="R577daab150514ea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49a9e3823dd45de" /><Relationship Type="http://schemas.openxmlformats.org/officeDocument/2006/relationships/notesMaster" Target="/ppt/notesMasters/notesMaster1.xml" Id="Re81ab565f9a2433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2b9b77dabd9497e" /><Relationship Type="http://schemas.openxmlformats.org/officeDocument/2006/relationships/notesMaster" Target="/ppt/notesMasters/notesMaster1.xml" Id="Ra01c0b6d0dd14df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fb9975f1172464a" /><Relationship Type="http://schemas.openxmlformats.org/officeDocument/2006/relationships/notesMaster" Target="/ppt/notesMasters/notesMaster1.xml" Id="Rccfd71a5dd2d42b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9de6fb1ca6c42c1" /><Relationship Type="http://schemas.openxmlformats.org/officeDocument/2006/relationships/notesMaster" Target="/ppt/notesMasters/notesMaster1.xml" Id="R934280c9109a4dd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609e37077b04fe2" /><Relationship Type="http://schemas.openxmlformats.org/officeDocument/2006/relationships/notesMaster" Target="/ppt/notesMasters/notesMaster1.xml" Id="R1c29908f253247f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a1e2c6af0d64869" /><Relationship Type="http://schemas.openxmlformats.org/officeDocument/2006/relationships/notesMaster" Target="/ppt/notesMasters/notesMaster1.xml" Id="R36eb8a42ed844d5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2559ec9b83d4593" /><Relationship Type="http://schemas.openxmlformats.org/officeDocument/2006/relationships/notesMaster" Target="/ppt/notesMasters/notesMaster1.xml" Id="R04f2585605684ac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9c70181f0ed4ce2" /><Relationship Type="http://schemas.openxmlformats.org/officeDocument/2006/relationships/notesMaster" Target="/ppt/notesMasters/notesMaster1.xml" Id="Rd8bfc19af5604f9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071a0af7c57481c" /><Relationship Type="http://schemas.openxmlformats.org/officeDocument/2006/relationships/notesMaster" Target="/ppt/notesMasters/notesMaster1.xml" Id="R254d36c4652643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C:/Users/higgs/Downloads/임베디드 시스템 공모전 양식/(가이드양식) 제24회 임베디드SW경진대회 개발완료보고서 작성 안내.pdf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C:/Users/higgs/Downloads/임베디드 시스템 공모전 양식/(가이드양식) 제24회 임베디드SW경진대회 개발완료보고서 작성 안내.pdf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C:/Users/higgs/Downloads/임베디드 시스템 공모전 양식/(가이드양식) 제24회 임베디드SW경진대회 개발완료보고서 작성 안내.pdf</a:t>
            </a:r>
          </a:p>
          <a:p xmlns:a="http://schemas.openxmlformats.org/drawingml/2006/main">
            <a:r>
              <a:t>- https://github.com/MinSooKim0Electronics0master/2026ESWContest_free_Finder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C:/Users/higgs/Downloads/임베디드 시스템 공모전 양식/(가이드양식) 제24회 임베디드SW경진대회 개발완료보고서 작성 안내.pdf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- C:/Users/higgs/Downloads/finder-project/firmware/handset/hybrid_bridge_check/README.md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- C:/Users/higgs/Downloads/finder-project/firmware/common/lilygo_t3_v161.h</a:t>
            </a:r>
          </a:p>
          <a:p xmlns:a="http://schemas.openxmlformats.org/drawingml/2006/main">
            <a:r>
              <a:t>- C:/Users/higgs/Downloads/finder-project/firmware/handset/hybrid_bridge_check/README.md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- C:/Users/higgs/Downloads/finder-project/sim/test_detour.py</a:t>
            </a:r>
          </a:p>
          <a:p xmlns:a="http://schemas.openxmlformats.org/drawingml/2006/main">
            <a:r>
              <a:t>- C:/Users/higgs/Downloads/finder-project/firmware/handset/hybrid_bridge_check/README.md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C:/Users/higgs/Downloads/finder-project/firmware/common/packet.h</a:t>
            </a:r>
          </a:p>
          <a:p xmlns:a="http://schemas.openxmlformats.org/drawingml/2006/main">
            <a:r>
              <a:t>- C:/Users/higgs/Downloads/finder-project/firmware/node/node.ino</a:t>
            </a:r>
          </a:p>
          <a:p xmlns:a="http://schemas.openxmlformats.org/drawingml/2006/main">
            <a:r>
              <a:t>- C:/Users/higgs/Downloads/finder-project/firmware/handset/handset.ino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C:/Users/higgs/Downloads/finder-project/firmware/common/packet.h</a:t>
            </a:r>
          </a:p>
          <a:p xmlns:a="http://schemas.openxmlformats.org/drawingml/2006/main">
            <a:r>
              <a:t>- C:/Users/higgs/Downloads/finder-project/sim/mesh_sim.py</a:t>
            </a:r>
          </a:p>
          <a:p xmlns:a="http://schemas.openxmlformats.org/drawingml/2006/main">
            <a:r>
              <a:t>- C:/Users/higgs/Downloads/finder-project/firmware/node/node.ino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C:/Users/higgs/Downloads/finder-project/firmware/common/packet.h</a:t>
            </a:r>
          </a:p>
          <a:p xmlns:a="http://schemas.openxmlformats.org/drawingml/2006/main">
            <a:r>
              <a:t>- C:/Users/higgs/Downloads/finder-project/firmware/common/lilygo_t3_v161.h</a:t>
            </a:r>
          </a:p>
          <a:p xmlns:a="http://schemas.openxmlformats.org/drawingml/2006/main">
            <a:r>
              <a:t>- C:/Users/higgs/Downloads/finder-project/firmware/node/node.ino</a:t>
            </a:r>
          </a:p>
          <a:p xmlns:a="http://schemas.openxmlformats.org/drawingml/2006/main">
            <a:r>
              <a:t>- C:/Users/higgs/Downloads/finder-project/firmware/handset/handset.ino</a:t>
            </a:r>
          </a:p>
          <a:p xmlns:a="http://schemas.openxmlformats.org/drawingml/2006/main">
            <a:r>
              <a:t>- C:/Users/higgs/Downloads/finder-project/firmware/handset/hybrid_bridge_check/hybrid_bridge_check.ino</a:t>
            </a:r>
          </a:p>
          <a:p xmlns:a="http://schemas.openxmlformats.org/drawingml/2006/main">
            <a:r>
              <a:t>- C:/Users/higgs/Downloads/finder-project/sim/mesh_sim.py</a:t>
            </a:r>
          </a:p>
          <a:p xmlns:a="http://schemas.openxmlformats.org/drawingml/2006/main">
            <a:r>
              <a:t>- C:/Users/higgs/Downloads/finder-project/sim/wokwi/mesh-practice/sketch.ino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C:/Users/higgs/Downloads/finder-project/firmware/handset/hybrid_bridge_check/README.md</a:t>
            </a:r>
          </a:p>
          <a:p xmlns:a="http://schemas.openxmlformats.org/drawingml/2006/main">
            <a:r>
              <a:t>- C:/Users/higgs/Downloads/finder-project/firmware/handset/hybrid_bridge_check/hybrid_bridge_check.ino</a:t>
            </a:r>
          </a:p>
          <a:p xmlns:a="http://schemas.openxmlformats.org/drawingml/2006/main">
            <a:r>
              <a:t>- C:/Users/higgs/Downloads/finder-project/sim/wokwi/mesh-practice/sketch.ino</a:t>
            </a:r>
          </a:p>
          <a:p xmlns:a="http://schemas.openxmlformats.org/drawingml/2006/main">
            <a:r>
              <a:t>- C:/Users/higgs/Downloads/finder-project/sim/wokwi/mesh-practice/fake_radio.h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C:/Users/higgs/Downloads/finder-project/firmware/handset/hybrid_bridge_check/README.md</a:t>
            </a:r>
          </a:p>
          <a:p xmlns:a="http://schemas.openxmlformats.org/drawingml/2006/main">
            <a:r>
              <a:t>- C:/Users/higgs/Downloads/finder-project/sim/wokwi/mesh-practice/sketch.ino</a:t>
            </a:r>
          </a:p>
          <a:p xmlns:a="http://schemas.openxmlformats.org/drawingml/2006/main">
            <a:r>
              <a:t>- C:/Users/higgs/Downloads/finder-project/firmware/handset/hybrid_bridge_check/hybrid_bridge_check.ino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C:/Users/higgs/Downloads/finder-project/firmware/handset/hybrid_bridge_check/hybrid_bridge_check.ino</a:t>
            </a:r>
          </a:p>
          <a:p xmlns:a="http://schemas.openxmlformats.org/drawingml/2006/main">
            <a:r>
              <a:t>- C:/Users/higgs/Downloads/finder-project/firmware/handset/handset.ino</a:t>
            </a:r>
          </a:p>
          <a:p xmlns:a="http://schemas.openxmlformats.org/drawingml/2006/main">
            <a:r>
              <a:t>- C:/Users/higgs/Downloads/finder-project/firmware/common/packet.h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- C:/Users/higgs/Downloads/finder-project/firmware/handset/hybrid_bridge_check/README.md</a:t>
            </a:r>
          </a:p>
          <a:p xmlns:a="http://schemas.openxmlformats.org/drawingml/2006/main">
            <a:r>
              <a:t>- C:/Users/higgs/Downloads/finder-project/firmware/common/lilygo_t3_v161.h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C:/Users/higgs/Downloads/finder-project/sim/mesh_sim.py</a:t>
            </a:r>
          </a:p>
          <a:p xmlns:a="http://schemas.openxmlformats.org/drawingml/2006/main">
            <a:r>
              <a:t>- C:/Users/higgs/Downloads/finder-project/sim/wokwi/mesh-practice/sketch.ino</a:t>
            </a:r>
          </a:p>
          <a:p xmlns:a="http://schemas.openxmlformats.org/drawingml/2006/main">
            <a:r>
              <a:t>- C:/Users/higgs/Downloads/finder-project/sim/wokwi/mesh-practice/fake_radio.h</a:t>
            </a:r>
          </a:p>
          <a:p xmlns:a="http://schemas.openxmlformats.org/drawingml/2006/main">
            <a:r>
              <a:t>- C:/Users/higgs/Downloads/finder-project/firmware/handset/hybrid_bridge_check/hybrid_bridge_check.ino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C:/Users/higgs/Downloads/finder-project/sim/mesh_sim.py</a:t>
            </a:r>
          </a:p>
          <a:p xmlns:a="http://schemas.openxmlformats.org/drawingml/2006/main">
            <a:r>
              <a:t>- C:/Users/higgs/Downloads/finder-project/sim/test_detour.py</a:t>
            </a:r>
          </a:p>
          <a:p xmlns:a="http://schemas.openxmlformats.org/drawingml/2006/main">
            <a:r>
              <a:t>- C:/Users/higgs/Downloads/finder-project/firmware/handset/hybrid_bridge_check/README.md</a:t>
            </a:r>
          </a:p>
          <a:p xmlns:a="http://schemas.openxmlformats.org/drawingml/2006/main">
            <a:r>
              <a:t>- C:/Users/higgs/Downloads/finder-project/firmware/handset/hybrid_bridge_check/hybrid_bridge_check.ino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- C:/Users/higgs/Downloads/finder-project/firmware/common/packet.h</a:t>
            </a:r>
          </a:p>
          <a:p xmlns:a="http://schemas.openxmlformats.org/drawingml/2006/main">
            <a:r>
              <a:t>- C:/Users/higgs/Downloads/finder-project/sim/test_detour.py</a:t>
            </a:r>
          </a:p>
          <a:p xmlns:a="http://schemas.openxmlformats.org/drawingml/2006/main">
            <a:r>
              <a:t>- C:/Users/higgs/Downloads/finder-project/firmware/handset/hybrid_bridge_check/hybrid_bridge_check.ino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C:/Users/higgs/Downloads/임베디드 시스템 공모전 양식/(가이드양식) 제24회 임베디드SW경진대회 개발완료보고서 작성 안내.pdf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- C:/Users/higgs/Downloads/finder-project/docs/tasks.md</a:t>
            </a:r>
          </a:p>
          <a:p xmlns:a="http://schemas.openxmlformats.org/drawingml/2006/main">
            <a:r>
              <a:t>- C:/Users/higgs/Downloads/finder-project/webdemo/index.html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C:/Users/higgs/Downloads/임베디드 시스템 공모전 양식/(가이드양식) 제24회 임베디드SW경진대회 개발완료보고서 작성 안내.pdf</a:t>
            </a:r>
          </a:p>
          <a:p xmlns:a="http://schemas.openxmlformats.org/drawingml/2006/main">
            <a:r>
              <a:t>- C:/Users/higgs/Downloads/finder-project/docs/contributions.md</a:t>
            </a:r>
          </a:p>
          <a:p xmlns:a="http://schemas.openxmlformats.org/drawingml/2006/main">
            <a:r>
              <a:t>- C:/Users/higgs/Downloads/finder-project/docs/tasks.md</a:t>
            </a:r>
          </a:p>
          <a:p xmlns:a="http://schemas.openxmlformats.org/drawingml/2006/main">
            <a:r>
              <a:t>- C:/Users/higgs/Downloads/finder-project/README.md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C:/Users/higgs/Downloads/임베디드 시스템 공모전 양식/(가이드양식) 제24회 임베디드SW경진대회 개발완료보고서 작성 안내.pdf</a:t>
            </a:r>
          </a:p>
          <a:p xmlns:a="http://schemas.openxmlformats.org/drawingml/2006/main">
            <a:r>
              <a:t>- C:/Users/higgs/Downloads/finder-project/docs/contributions.md</a:t>
            </a:r>
          </a:p>
          <a:p xmlns:a="http://schemas.openxmlformats.org/drawingml/2006/main">
            <a:r>
              <a:t>- https://github.com/MinSooKim0Electronics0master/2026ESWContest_free_Finder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9965d9a9f347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fd2bdec9424b59" /><Relationship Type="http://schemas.openxmlformats.org/officeDocument/2006/relationships/slideLayout" Target="/ppt/slideLayouts/slideLayout1.xml" Id="Rc17088d8bc4d45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7088d8bc4d45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07d1d63fd44e0a" /><Relationship Type="http://schemas.openxmlformats.org/officeDocument/2006/relationships/notesSlide" Target="/ppt/notesSlides/notesSlide1.xml" Id="R18b176fcd8a14b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7dc33b21054b2f" /><Relationship Type="http://schemas.openxmlformats.org/officeDocument/2006/relationships/notesSlide" Target="/ppt/notesSlides/notesSlide2.xml" Id="R40b2b9e00ef640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2bbcc8ec0454e" /><Relationship Type="http://schemas.openxmlformats.org/officeDocument/2006/relationships/notesSlide" Target="/ppt/notesSlides/notesSlide3.xml" Id="Rb5e61ca1221e48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3256252284fe1" /><Relationship Type="http://schemas.openxmlformats.org/officeDocument/2006/relationships/notesSlide" Target="/ppt/notesSlides/notesSlide4.xml" Id="Rfd8c19664c5f47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c4aca4f87a40d8" /><Relationship Type="http://schemas.openxmlformats.org/officeDocument/2006/relationships/notesSlide" Target="/ppt/notesSlides/notesSlide5.xml" Id="R70a3e46316a54f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e9a693bb59451b" /><Relationship Type="http://schemas.openxmlformats.org/officeDocument/2006/relationships/notesSlide" Target="/ppt/notesSlides/notesSlide6.xml" Id="Rd53ccb9f2d5f47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377b715ec44fb2" /><Relationship Type="http://schemas.openxmlformats.org/officeDocument/2006/relationships/notesSlide" Target="/ppt/notesSlides/notesSlide7.xml" Id="R0628adc3ef064a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563ca74934b66" /><Relationship Type="http://schemas.openxmlformats.org/officeDocument/2006/relationships/notesSlide" Target="/ppt/notesSlides/notesSlide8.xml" Id="Ra7918b23621d44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68c392b29642ec" /><Relationship Type="http://schemas.openxmlformats.org/officeDocument/2006/relationships/notesSlide" Target="/ppt/notesSlides/notesSlide9.xml" Id="R2020f1a79abf40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170ad3d9e4693" /><Relationship Type="http://schemas.openxmlformats.org/officeDocument/2006/relationships/notesSlide" Target="/ppt/notesSlides/notesSlide10.xml" Id="R73052231f67f43a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b7a9a7f1c244b5" /><Relationship Type="http://schemas.openxmlformats.org/officeDocument/2006/relationships/notesSlide" Target="/ppt/notesSlides/notesSlide11.xml" Id="Rcf8557059e6e422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5cd909e88d4eb1" /><Relationship Type="http://schemas.openxmlformats.org/officeDocument/2006/relationships/notesSlide" Target="/ppt/notesSlides/notesSlide12.xml" Id="Rd2b631086b3a401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a0e75d592f4bb4" /><Relationship Type="http://schemas.openxmlformats.org/officeDocument/2006/relationships/notesSlide" Target="/ppt/notesSlides/notesSlide13.xml" Id="R05b38c265d2c4d5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e91f1fed643e6" /><Relationship Type="http://schemas.openxmlformats.org/officeDocument/2006/relationships/notesSlide" Target="/ppt/notesSlides/notesSlide14.xml" Id="R8a4f68de19e145e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774baea7244a0" /><Relationship Type="http://schemas.openxmlformats.org/officeDocument/2006/relationships/notesSlide" Target="/ppt/notesSlides/notesSlide15.xml" Id="R72da7f18d23541e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6c60eca41f47f9" /><Relationship Type="http://schemas.openxmlformats.org/officeDocument/2006/relationships/notesSlide" Target="/ppt/notesSlides/notesSlide16.xml" Id="Re5b36d7a79fa497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aa7a3800f9414b" /><Relationship Type="http://schemas.openxmlformats.org/officeDocument/2006/relationships/notesSlide" Target="/ppt/notesSlides/notesSlide17.xml" Id="R31b03b0ce2a5416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3122352ee4dad" /><Relationship Type="http://schemas.openxmlformats.org/officeDocument/2006/relationships/notesSlide" Target="/ppt/notesSlides/notesSlide18.xml" Id="Rea1947ca169d43a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d3d9e4bef46a5" /><Relationship Type="http://schemas.openxmlformats.org/officeDocument/2006/relationships/notesSlide" Target="/ppt/notesSlides/notesSlide19.xml" Id="R1567b020df9343d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3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3B1801-CAA1-4D04-B0BB-5AF60C24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F597A6-2299-4779-9881-ABED0DDB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9146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10E6EC-F2D0-4F98-9D4F-EB55B392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"/>
            <a:ext cx="280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DEVELOPMENT COMPLETION REPORT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7C5C1A-8804-4EDC-BFB3-281958B0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581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7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Finder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11A90A-B2CD-4329-A000-C652CC4AA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FD4B4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FFD4B4"/>
                </a:solidFill>
                <a:latin typeface="Malgun Gothic"/>
                <a:ea typeface="Malgun Gothic"/>
                <a:cs typeface="Malgun Gothic"/>
              </a:rPr>
              <a:t>긴급 필요시설 알리미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CFF6E7-8822-4867-A6A5-A3F02C43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6286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0">
                <a:solidFill>
                  <a:srgbClr val="DCE6F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DCE6F2"/>
                </a:solidFill>
                <a:latin typeface="Malgun Gothic"/>
                <a:ea typeface="Malgun Gothic"/>
                <a:cs typeface="Malgun Gothic"/>
              </a:rPr>
              <a:t>낯선 곳과 통신 취약 상황에서 AED·소화전·화장실을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00" b="0">
                <a:solidFill>
                  <a:srgbClr val="DCE6F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DCE6F2"/>
                </a:solidFill>
                <a:latin typeface="Malgun Gothic"/>
                <a:ea typeface="Malgun Gothic"/>
                <a:cs typeface="Malgun Gothic"/>
              </a:rPr>
              <a:t>3계층 안내로 찾도록 돕는 임베디드 시스템입니다.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77395F-A561-4076-9BC6-3F876495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707705-35BB-4B43-91E0-DD03FF34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자유공모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A04AE7-2225-4BB2-A82C-BBFF6A3D5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705350"/>
            <a:ext cx="1219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35B76D-F272-4A64-89D1-D422B7C9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733925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팀 파인더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20263B-E4A9-4B34-8212-F9835F56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705350"/>
            <a:ext cx="819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C78091-51C8-4E10-9CC5-93D3C20B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733925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428E2D-E397-4F81-90CF-9AB2D3E0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BAC8D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BAC8D8"/>
                </a:solidFill>
                <a:latin typeface="Malgun Gothic"/>
                <a:ea typeface="Malgun Gothic"/>
                <a:cs typeface="Malgun Gothic"/>
              </a:rPr>
              <a:t>팀장 이휘 · 팀원 김민수 · 팀번호 [확인 필요]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4EB9B9-1887-474F-9778-7B26B540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817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제24회 임베디드SW경진대회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317EBB-5AEA-477A-BFEE-2AAED6A8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990725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4666"/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267012-D6D9-4A8E-A963-9208CFC7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9146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공공데이터 + GPS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958D21-4882-46E6-8D47-83C75C83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86000"/>
            <a:ext cx="1600200" cy="1600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27A"/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7048A8-FF50-4252-AE41-61703292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1465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BLE 안내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15A160-4F3F-413E-9A9D-025AB54F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581275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5086E6-B411-4F08-9E20-0160EBF9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914650"/>
            <a:ext cx="819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42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LoRa 메시</a:t>
            </a:r>
          </a:p>
        </p:txBody>
      </p:sp>
    </p:spTree>
    <p:extLst>
      <p:ext uri="{BB962C8B-B14F-4D97-AF65-F5344CB8AC3E}">
        <p14:creationId xmlns:p14="http://schemas.microsoft.com/office/powerpoint/2010/main" val="6195854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B0580D-0180-4A89-962D-D8C19705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4A0ECA-2328-47FA-846B-561393C9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01 DEVELOPMENT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B444D4-7226-49CC-8938-2E524504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개발 배경과 필요성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2D156C-A295-473F-98C8-274930434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FA9788-4B22-4C16-9ED0-4E683CE3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50A2D4-022D-4F16-9F90-FC8AE9B3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0DF253-30AF-4B4A-B87A-48BEBA72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481965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5C7B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597EC5-376E-49CB-BCAC-751893C6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66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3B22"/>
          </a:solidFill>
          <a:ln xmlns:a="http://schemas.openxmlformats.org/drawingml/2006/main" w="9525">
            <a:solidFill>
              <a:srgbClr val="C23B2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94065D-A8B9-4E8E-8097-A0FE1C3AF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24000"/>
            <a:ext cx="445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현장에서 발생하는 문제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B8519C-F451-4BE8-AA00-936BF58B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4457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낯선 장소에서는 시설 위치를 즉시 파악하기 어렵습니다. 인터넷 지도만 의존하면 실내·재난·망 장애 상황에서 안내가 끊길 수 있습니다.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9795D9-170B-4346-9803-6EF75C7B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0"/>
            <a:ext cx="48196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E7F6F8"/>
          </a:solidFill>
          <a:ln xmlns:a="http://schemas.openxmlformats.org/drawingml/2006/main" w="9525">
            <a:solidFill>
              <a:srgbClr val="BDE3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282423-2D49-40BB-B0B2-F7CBEF77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255D6D-0582-4688-AB21-4052ADC9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45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필요한 대응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D4214E-AB79-4288-8B3B-8A4F2536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44577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평시에는 오프라인 공공데이터와 GPS로 주변 시설을 찾고, 가까워지면 BLE로 안내하며, 재난 시에는 LoRa 메시가 다른 노드를 거쳐 우회하도록 구성합니다.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F9A927-6D4C-4EAB-B193-017335AA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10200"/>
            <a:ext cx="48196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DD1A22-EA98-4444-A824-7B9F0DE9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67350"/>
            <a:ext cx="4552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목표: 통신 조건이 달라져도 ‘시설 정보 전달’이 이어지는 구조를 검증합니다.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5271F5-C6F3-4DC7-A9C8-6CAD1A91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504950"/>
            <a:ext cx="5467350" cy="361950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5550D9-A5A9-40EF-BC85-580FCE0F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1841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7F12BE-DBC0-4E37-BDA2-6FF3686D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87090"/>
            <a:ext cx="4933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AED·소화전·공중화장실 표지를 한 장에 모은 현장 사진 또는 직접 촬영한 2~3장 콜라주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CDB686-6D32-4FC9-8529-61248D000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0065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F1A4D8-09FE-4085-80B7-E4576BE2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22922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F0EF48-722E-4EA9-97C3-C3ED2346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19112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문제 대상으로 삼은 긴급·생활 필요시설의 실제 표지 예시입니다.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A1C958-95AB-4E1C-8D8A-103508CC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619750"/>
            <a:ext cx="539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사진에는 사람 얼굴·차량번호 등 개인정보가 보이지 않도록 정리합니다.</a:t>
            </a:r>
          </a:p>
        </p:txBody>
      </p:sp>
    </p:spTree>
    <p:extLst>
      <p:ext uri="{BB962C8B-B14F-4D97-AF65-F5344CB8AC3E}">
        <p14:creationId xmlns:p14="http://schemas.microsoft.com/office/powerpoint/2010/main" val="5902127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63123F-7E48-4A4E-96E3-3296A324B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D7504C-373B-4E50-8C29-B8C93C60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01 DEVELOPMENT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A73172-D387-4741-9BD5-6FAA32AA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개발 목표와 제출 링크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7A3F18-30DF-4616-AB2D-4CFFE9C5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514E43-CCFE-494B-9897-24066772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9F911E-0621-4CC3-BFAA-9C93057C0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1C66E2-3236-4271-B7B1-1761192F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14450"/>
            <a:ext cx="108775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82278E-7812-44C1-B178-0C4420C3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71600"/>
            <a:ext cx="1061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공통 패킷과 우회 알고리즘을 먼저 검증하고, 실제 수신 보드에서 OLED·BLE까지 연결하는 것이 이번 개발 목표입니다.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08ADB6-8760-4AF8-821B-C9AE7FFDE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28850"/>
            <a:ext cx="306705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9C20BB-0472-4B7A-A22E-A52D7634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25BF69-7C24-4A07-BF1C-45E54BF8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9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F87599-566F-432C-BC50-9B2F8CF7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431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공통 패킷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32ACA3-8032-449F-A26B-EB667FD6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9바이트 FinderPacket으로 노드·단말·시뮬레이터의 메시지 형식을 통일합니다.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F85BDC-321B-4486-8E3A-6CA92486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228850"/>
            <a:ext cx="306705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668B92-4B36-471B-B7AC-748AC648E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3812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ED9BE7-E3D4-4AF5-9506-1D689393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098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FC39CD-0452-47A6-ABA5-E4B9556E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431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메시 우회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F0CD1F-7002-4EBD-9625-465676E8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81940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msgId 캐시, TTL 감소, 50~300 ms 랜덤 지연으로 플러딩을 제어합니다.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114814-52C2-4960-8BDF-F43A19F5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43350"/>
            <a:ext cx="306705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515B25-B837-4308-ABF6-CFB21F6C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1A659A-2BBE-4C23-B570-90C67CE1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243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2469D6-57CC-458F-BDBD-2DFD882F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576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수신 표시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2D968B-E72A-4412-96D0-A8DFE8A1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수신 경로·시설·메시지 번호를 실제 OLED에 표시합니다.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F3AD87-BEEB-4A78-A64C-AA8D1B1A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943350"/>
            <a:ext cx="306705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B9C6E3-0E87-4E65-8B83-BB186827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0957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7FD364-4EAE-4C9A-8AB6-00CA70B7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243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F724C3-C379-4787-B692-2513BEFD6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576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BLE 재방송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5C6CFE-F031-4F93-BE1A-E1A9A71A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3390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수신한 최신 정보를 Finder-D BLE 광고 데이터에 반영합니다.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2D6815-F2E2-4314-BA89-5840BEA0A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28850"/>
            <a:ext cx="41529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0EBEB3-3D1E-4C47-BF5E-DBCF8768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28850"/>
            <a:ext cx="66675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872DC4-7B88-47C0-A157-67781CD1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62200"/>
            <a:ext cx="3790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필수 링크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116EA9-A500-4589-B837-02076C98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8194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소스코드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F63C19-584E-4168-8ABE-A2541D80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105150"/>
            <a:ext cx="3562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https://github.com/MinSooKim0Electronics0master/2026ESWContest_free_Finder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4AECB7-E181-4974-891D-A1664826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0005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시연동영상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DD628B-E6EA-48A3-A311-1870764A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305300"/>
            <a:ext cx="36385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47A20"/>
            </a:solidFill>
            <a:prstDash val="dash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50D661-BF3F-4289-9661-80A4C0D7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438650"/>
            <a:ext cx="3409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[YouTube 링크 입력]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0C3BEA-01C0-4B67-AD4A-131E81EC6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600700"/>
            <a:ext cx="4152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DEC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4DE15DC-1FC3-4C73-87E9-DD5E8783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657850"/>
            <a:ext cx="388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6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제출 직전: 영상 공개 상태와 링크 재생을 다른 브라우저에서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3129912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5972521-EE7E-4A49-AEDD-80C1F4F5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8C296C-6CDD-4C36-9E92-F6437120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01 DEVELOPMENT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11612E-2541-4A9B-B2C0-9D8459B2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3계층 안내 구조와 현재 검증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51F164-DBF4-4458-AEAF-56F1D931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완료보고서에는 실제 확인한 범위와 향후 구현 범위를 구분하여 표시합니다.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616763-39C2-4DEF-82B6-0C91A0E9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5B2D9B-729B-4A31-B612-4AA91F72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82575D-42B7-47A0-9EAC-7BAD3C22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24C74D-076C-4765-A5E7-339F2D0B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3238500" cy="36385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ACC927-DD29-4FB4-8A89-0944CD1C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0FB193-2810-40E2-A885-7ABA370B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5F3FE9-2797-4A6F-863C-98E4FD80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907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평시 원거리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0DA3BD-D3B4-4E25-9BA8-9690B681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2686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공공데이터 + GPS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FCDF55-77A1-459C-B10A-C1EFBDBF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웹 지도 골격 작성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CSV 로더 구조 준비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실제 데이터 연결은 후속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A19F46-08DE-4DDE-8F42-1A0FE076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0535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CFFF53-D35C-4B5B-8ECE-D44D46DE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구조 구현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3A8415-9660-48E4-BAB9-FC949945E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619250"/>
            <a:ext cx="3238500" cy="36385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472EED-EA2A-479B-92B3-54C52546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847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4C0BC5-70B1-47AE-AED5-BB86BEDB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8478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08CA21-2F5B-47FC-AD28-FFB07DDD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17907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가까운 거리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E4A5DB-834C-4C7B-985A-90B8774B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43150"/>
            <a:ext cx="2686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BLE 광고 안내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59D43C-D4BB-496D-889D-DFB734A9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04800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실물 D에서 Finder-D 광고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시설·경로 데이터를 광고에 반영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nRF Connect에서 확인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7F7B22-D02D-4875-92DD-61060E45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70535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C043DE-C30B-4A76-B662-62C9D37F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rPr>
              <a:t>실물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608FE1-56D6-48D2-95D9-9FCB43AE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619250"/>
            <a:ext cx="3238500" cy="36385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198EDB-2966-4E98-B805-0F2651FF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47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B40D74-77DE-4C95-AB3F-5329BF03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478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EBE7D1-8C0B-4B8F-A135-C99187E2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7907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재난 모드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D521B9-62CA-4200-AD0B-A34B1068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43150"/>
            <a:ext cx="2686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LoRa 메시 우회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E5851A-83A9-4B53-AAAE-96225476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메시 알고리즘·시뮬레이터 완료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Wokwi A/B/C + 실물 D 검증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11"/>
              </a:spcAft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4대 RF 검증은 보드 도착 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A56810-F28B-4784-BF8E-FD53A41A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70535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72D193-2937-4A6B-8258-C454A4A6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부분 검증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C81DBE-F387-421E-BC2F-BFA0B33E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43250"/>
            <a:ext cx="2286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18DEF6-7766-4695-BBEF-1FE9EDAC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143250"/>
            <a:ext cx="2286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211993-0DE3-460F-8FBA-588DEF96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43550"/>
            <a:ext cx="109156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65BEA2-FE3B-4624-9E23-8D7F61D81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00700"/>
            <a:ext cx="1064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검증 원칙  |  실물 확인 = 실제 D 보드에서 관찰  ·  부분 검증 = 알고리즘/혼합환경 확인  ·  향후 = 4대 LoRa RF 확인</a:t>
            </a:r>
          </a:p>
        </p:txBody>
      </p:sp>
    </p:spTree>
    <p:extLst>
      <p:ext uri="{BB962C8B-B14F-4D97-AF65-F5344CB8AC3E}">
        <p14:creationId xmlns:p14="http://schemas.microsoft.com/office/powerpoint/2010/main" val="941668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B08FC6-964C-4192-A6E1-6105C10CD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780CD7-63AB-453B-8A67-B0FDCFB1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02 DEVELOPMENT ENVIRONMENT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066DB-931F-4536-87D2-D308A857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하드웨어·소프트웨어 개발 환경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1578D2-5DD4-4F0B-A418-1745DE9A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2850CC-90AA-497B-A796-CDCF8505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4EC4CF-3933-413A-99B1-9E3B478A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96C18B-CBEF-4C3F-8EC4-63A481EA0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4762500" cy="19812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601CE-3573-4DD6-BF5A-836DC45C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6667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B19EF9-4A93-4419-A54F-C30C7C195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2400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목표 하드웨어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17BDD7-A039-4D12-A77E-88D04E61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44005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LILYGO T3 LoRa32 V1.6.1 × 4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ESP32-PICO-D4 + SX1278 + 0.96" OLED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433/470 MHz 모델, 안테나 장착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A·B·C 시설 노드 / D 수신 단말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739A1A-7264-4A42-BDD0-F0DF67D4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43300"/>
            <a:ext cx="47625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A40744-472C-4D65-B3EC-FFA2ABD7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43300"/>
            <a:ext cx="66675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CDBC85-55AD-4E1B-AA76-81434D3C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사용 소프트웨어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DC4E18-297B-474C-8F48-6DD4B372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44005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Arduino IDE · ESP32 보드 패키지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RadioLib · ESP32 BLE · Adafruit SSD1306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Wokwi · PubSubClient(MQTT 시험 전송)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Python 3 표준 라이브러리 시뮬레이터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GitHub · GitHub Desktop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5C628A-C60C-4265-9ECF-DC9522D7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428750"/>
            <a:ext cx="2647950" cy="2238375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73196A-D742-431D-B97C-C928D380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05549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3BADEE-A8DB-4177-8AF2-CACAB1AE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92705"/>
            <a:ext cx="2114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281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보드 앞면과 뒷면을 나란히 촬영한 사진. T3 V1.6.1 및 433/470MHz 라벨이 읽혀야 합니다.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3DC3E7-8362-430C-AA01-D469EAD6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743325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A380E4-BE2D-4DFF-A301-0516BC74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771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25D8F2-05E8-4B88-BFBA-B7D8A772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33800"/>
            <a:ext cx="194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사용한 LILYGO T3 LoRa32 V1.6.1 보드의 외형과 모델 표기입니다.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9F1FF2-8263-4CC7-A089-56E143D8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428750"/>
            <a:ext cx="2647950" cy="2238375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7F072F-4BEC-4D6D-9FF1-4083C64CE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5549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422981-A471-4C16-B06B-9644E5BF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592705"/>
            <a:ext cx="2114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323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안테나와 USB를 연결하고 OLED가 켜진 실제 D 보드 사진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E3DEC3-0A29-446C-A008-EA52B390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43325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6523DC-ACD2-472A-B8BB-5723185A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71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3173B6-779F-4F61-91A3-50EF045F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33800"/>
            <a:ext cx="194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실제 수신 단말 D의 연결 상태와 OLED 구동 모습입니다.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12C01B-8CFB-4955-BB27-8C0CCE80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419600"/>
            <a:ext cx="554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7ACE3C-579C-4EFF-B206-C3CEC598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76750"/>
            <a:ext cx="5276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현재 검증 구성: 실물 D 1대 + Wokwi 가상 A/B/C 3대입니다. 4대 실물 RF 검증은 후속 일정입니다.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2268A8-79BF-48AF-A828-2AE7971C4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429250"/>
            <a:ext cx="5467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주의: 실제 송신 주파수·출력·안테나·적합성 조건은 국내 전파 관련 기준을 확인한 뒤 설정합니다.</a:t>
            </a:r>
          </a:p>
        </p:txBody>
      </p:sp>
    </p:spTree>
    <p:extLst>
      <p:ext uri="{BB962C8B-B14F-4D97-AF65-F5344CB8AC3E}">
        <p14:creationId xmlns:p14="http://schemas.microsoft.com/office/powerpoint/2010/main" val="9896256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3F31F6-A1F8-42BA-B7B7-A45E7983D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2D18BC-CE1E-4D6D-8113-7AC0E2D4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02 DEVELOPMENT ENVIRONMENT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12D0B8-2052-463B-8DB3-F9FEC3EA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기능 구성도: A–B/C–D 이중 경로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866DFC-06FA-4A76-ADA5-B05B2758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810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 B가 중단되어도 C를 거쳐 D에 도달하는 구조입니다.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F523C4-05B8-404D-BBF7-F71D839D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F827C6-A0F0-44BC-B8D5-F3DFAE5A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4AFC16-A837-4DF1-83EE-046F3D05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B83747-D4B6-4ED4-AE75-CE9629E2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33500"/>
            <a:ext cx="34290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F8"/>
          </a:solidFill>
          <a:ln xmlns:a="http://schemas.openxmlformats.org/drawingml/2006/main" w="9525">
            <a:solidFill>
              <a:srgbClr val="E7F6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869C2E-DCB6-4DB4-9120-B23EF3C6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62075"/>
            <a:ext cx="3314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현재 혼합 검증: A/B/C=Wokwi · D=실물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51574C-C6C5-456B-AB7C-AFC5D42D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333500"/>
            <a:ext cx="3333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9469EF-31D2-49EF-A7B8-E2B727DD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62075"/>
            <a:ext cx="3219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최종 목표: A/B/C/D=LoRa RF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8ABE21-8001-42C5-9D9C-53B62908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1714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47A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927AE7-ECAC-42A9-AFD2-E0584F24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765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08C492-5C75-469C-BD83-732E4FF2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시설 정보 발신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854BBB-B5E4-431D-828D-B22CCBD3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000250"/>
            <a:ext cx="18097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74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84ED12-1180-45EE-9F0E-FF5877FE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095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546C82-0C1D-477E-8961-2AAB5D84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45745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 경로 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5DBA91-829E-4034-8510-A2A47137C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848100"/>
            <a:ext cx="18097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74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3E8A5D-FC49-40D1-8668-CA05BD6B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9433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7FDF1A-C75F-47CC-91D2-9881B2E2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30530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 경로 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803D00-6261-45A3-8ECD-6E7B2771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81300"/>
            <a:ext cx="21336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0233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7AC22-9783-4DE3-8D65-23F98BAD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76550"/>
            <a:ext cx="1943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00E6E2-6CC8-4CED-939A-A5E93404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3850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OLED + BLE 수신</a:t>
            </a:r>
          </a:p>
        </p:txBody>
      </p:sp>
      <p:cxnSp>
        <p:nvCxnSpPr>
          <p:cNvPr id="6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V="1">
            <a:off x="2552700" y="2476500"/>
            <a:ext cx="1428750" cy="7810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E7490"/>
            </a:solidFill>
            <a:prstDash val="solid"/>
            <a:headEnd type="triangle" w="sm" len="sm"/>
          </a:ln>
        </p:spPr>
      </p:cxnSp>
      <p:cxnSp>
        <p:nvCxnSpPr>
          <p:cNvPr id="62" name=""/>
          <p:cNvCxnSpPr>
            <a:stCxn xmlns:a="http://schemas.openxmlformats.org/drawingml/2006/main" id="12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2552700" y="3257550"/>
            <a:ext cx="1428750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47A20"/>
            </a:solidFill>
            <a:prstDash val="solid"/>
            <a:headEnd type="triangle" w="sm" len="sm"/>
          </a:ln>
        </p:spPr>
      </p:cxnSp>
      <p:cxnSp>
        <p:nvCxnSpPr>
          <p:cNvPr id="63" name=""/>
          <p:cNvCxnSpPr>
            <a:stCxn xmlns:a="http://schemas.openxmlformats.org/drawingml/2006/main" id="15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791200" y="2476500"/>
            <a:ext cx="2800350" cy="7810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E7490"/>
            </a:solidFill>
            <a:prstDash val="solid"/>
            <a:headEnd type="triangle" w="sm" len="sm"/>
          </a:ln>
        </p:spPr>
      </p:cxnSp>
      <p:cxnSp>
        <p:nvCxnSpPr>
          <p:cNvPr id="64" name=""/>
          <p:cNvCxnSpPr>
            <a:stCxn xmlns:a="http://schemas.openxmlformats.org/drawingml/2006/main" id="18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 flipV="1">
            <a:off x="5791200" y="3257550"/>
            <a:ext cx="2800350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47A20"/>
            </a:solidFill>
            <a:prstDash val="solid"/>
            <a:headEnd type="triangle" w="sm" len="sm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2D764C-3B08-4C7A-856D-8FA8998A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3360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경로 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7FEB36-69CE-419D-A2E4-4DD42B1F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7675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경로 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1ABADD-4D16-4D16-8418-A4336C85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1695450" cy="262890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E61EF2-FD18-4C50-A49F-E26F49A7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66675" cy="262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3B197B-B8CF-4467-A5A5-8120F18C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098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D의 역할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79BC17-6790-4BBC-B796-4EB38DD4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52700"/>
            <a:ext cx="13335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1. 패킷 수신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2. msgId 중복 억제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3. 시설·경로 OLED 표시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4. BLE 광고 갱신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B2112C-7FB4-4425-A1DC-D8A61D41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34000"/>
            <a:ext cx="44767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7F6F8"/>
          </a:solidFill>
          <a:ln xmlns:a="http://schemas.openxmlformats.org/drawingml/2006/main" w="9525">
            <a:solidFill>
              <a:srgbClr val="E7F6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4B3125-3C65-490E-9740-78E5FF0C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91150"/>
            <a:ext cx="421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정상: A → B → 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4D93013-5A58-43D6-B5E0-A7BFFD52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334000"/>
            <a:ext cx="44767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1560B3-D253-4185-B402-FEE9E47C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91150"/>
            <a:ext cx="421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B 중단: A → C → D</a:t>
            </a:r>
          </a:p>
        </p:txBody>
      </p:sp>
    </p:spTree>
    <p:extLst>
      <p:ext uri="{BB962C8B-B14F-4D97-AF65-F5344CB8AC3E}">
        <p14:creationId xmlns:p14="http://schemas.microsoft.com/office/powerpoint/2010/main" val="130158230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A96BF33-7DC7-4D3D-86A8-8CC55B4D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2852C6-BBA9-4A1B-A0B7-81A7E8102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03 PROGRAM EXPLANATION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3E1230-955C-4D9B-A2AA-AAB9B72B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공통 패킷 규격: FinderPacket 9바이트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459C21-EA71-4478-81AB-AA54FD84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41BC60-14E8-4F19-A36E-DAC31C1B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CD18EA-E928-427B-959E-C981B6FD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F4464A-4F71-46F1-AADC-F3B69D8F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240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B9DFCF-F794-4BCC-AD71-0EC8EA3A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50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필드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21852F-4A45-4A56-9240-45BD1CD6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524000"/>
            <a:ext cx="857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798809-11AB-42D0-8888-5ED101AD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562100"/>
            <a:ext cx="742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크기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EA3F37-3CE5-469D-8093-F1544C82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524000"/>
            <a:ext cx="4762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2810F9-2D78-4183-8B23-378CD226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62100"/>
            <a:ext cx="464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역할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427FC6-C8A7-493C-B2B9-47F1554D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A38B35-9930-49DC-8A2D-018D65AF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85975"/>
            <a:ext cx="150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msgId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751CFA-9AE2-4670-BD29-A217FC3E7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47875"/>
            <a:ext cx="857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5A5B57-DFD3-4975-A771-FDEA2B0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085975"/>
            <a:ext cx="742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4 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953CBD-DEFF-4E7F-BB32-12012BA4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47875"/>
            <a:ext cx="4762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A14499-5530-43F3-841F-4BAF6F05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85975"/>
            <a:ext cx="464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상위 8비트 srcId + 하위 24비트 시퀀스로 중복을 식별합니다.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BF5370-BCF2-441E-AB08-4CF75569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7175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A7F414-E58F-43E7-AE3C-7BD09537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150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srcId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4BC61F-E19E-4C2B-887C-6811293F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71750"/>
            <a:ext cx="857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BC9FDD-EC1D-47B9-B4B1-8F1E9C01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09850"/>
            <a:ext cx="742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 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469B5E-3096-45F1-8C48-3DE2E5AD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571750"/>
            <a:ext cx="4762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AD2FB7-8D84-4C9C-8195-CBF13823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609850"/>
            <a:ext cx="464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최초 발신 노드를 식별합니다.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6B1DCF-5207-4216-B175-76EA101F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956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C8F659-BB79-4C98-8EAD-AB25FD07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33725"/>
            <a:ext cx="150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facilityType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E1647-D688-44CD-9D51-FB46386A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095625"/>
            <a:ext cx="857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1A47DD-4BF8-4F05-90A6-B7AE31D49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133725"/>
            <a:ext cx="742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 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01341C-DF8B-416F-B21F-8D3A3EA1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095625"/>
            <a:ext cx="4762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C46CC7-A9FF-40E1-8A19-3AA804D7B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133725"/>
            <a:ext cx="464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1=AED, 2=소화전, 3=화장실입니다.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263A76-593A-480B-B303-B66CE935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C330B2-CE25-41E8-A76E-1C865C52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7600"/>
            <a:ext cx="150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status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393B18-978B-445F-AFBF-4CCCD23F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19500"/>
            <a:ext cx="857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36FE40-EE8B-4866-8070-933F34E3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657600"/>
            <a:ext cx="742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 B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9E0A73-C999-4DBA-BB59-6B64C520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619500"/>
            <a:ext cx="4762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65EB49-3278-4849-A388-891BDF96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657600"/>
            <a:ext cx="464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0=정상, 1=점검 상태입니다.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5E5566-9452-4B0A-8941-A09507C1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4337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B262B0-D5CC-481B-B471-3B422615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81475"/>
            <a:ext cx="150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ttl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0B7B38-CBA5-4D13-8E77-238241D3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143375"/>
            <a:ext cx="857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9DA8F91-8CA2-41B0-80AC-64902B73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181475"/>
            <a:ext cx="742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 B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96D445A-0000-47BC-995B-18649491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143375"/>
            <a:ext cx="4762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0D798F4-6039-4ECB-BA48-3AE45B09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181475"/>
            <a:ext cx="464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릴레이할 때 1 감소하며 무한 전파를 막습니다.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35395D-AD03-4F24-89A8-6252E648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6725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B6485B1-D8C3-4891-A381-86BEBB87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05350"/>
            <a:ext cx="1504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lastHopId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EDA95F-450A-4FCC-8129-503B2AD4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667250"/>
            <a:ext cx="857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FAF27F7-6DC2-49EF-A7C1-C58B2D92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705350"/>
            <a:ext cx="742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 B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B16B57C-89D3-4D13-BE11-0DDFB3DA5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667250"/>
            <a:ext cx="4762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5CC0BD7-B95C-471D-95E8-CA1B6A16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705350"/>
            <a:ext cx="4648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직전 중계 노드를 기록하여 경로를 표시합니다.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AADB744-ECA1-4F28-B946-2A7CF51D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24000"/>
            <a:ext cx="337185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EA847A8-ADD0-4645-9255-528635DD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24000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82FF18B-B6C4-475C-A49A-AE18FF0E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573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메시 제어 상수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1146FDE-1022-4CAF-B0AE-E82E4CD8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9550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캐시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8192446-712A-406F-811B-6A5F911B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95500"/>
            <a:ext cx="1562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AD26A0A-23C9-4019-95CE-6832F926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1240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16개 msgId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12A3C04-C3BB-4F47-BE4C-3E156230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717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초기 TTL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6878478-0E42-4749-89C0-075F118A9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71750"/>
            <a:ext cx="1562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C84CE3C-F17E-451E-B565-210A27BF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003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153C87A-55CB-43C4-9616-8E4A5752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04800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재송신 지연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825E559-DCF6-4A2D-98D6-30879130A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48000"/>
            <a:ext cx="1562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C550172-9072-47C8-8C8A-313D7D59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7657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50~300 ms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2D460E6-DFA5-4067-990B-4A760174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242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시험 계획 채널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5800092-06AB-4C4F-9502-AB975B7D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24250"/>
            <a:ext cx="1562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C743B6C-46DB-4365-A61B-CFB2FFFE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528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433.92 MHz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F8392A5-8019-496B-91F1-7DF7172F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00550"/>
            <a:ext cx="33718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557E52D-8DBC-49DA-A433-9D6FE03B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00550"/>
            <a:ext cx="6667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4B066C5-2CE6-4E3D-9883-998C5759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3390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msgId 구성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7116CC8-2554-4A03-9B28-0A52F1B9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76800"/>
            <a:ext cx="3009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17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566275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566275"/>
                </a:solidFill>
                <a:latin typeface="Consolas"/>
                <a:ea typeface="Consolas"/>
                <a:cs typeface="Consolas"/>
              </a:rPr>
              <a:t>[ srcId 8 bit ][ sequence 24 bit ]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566275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566275"/>
                </a:solidFill>
                <a:latin typeface="Consolas"/>
                <a:ea typeface="Consolas"/>
                <a:cs typeface="Consolas"/>
              </a:rPr>
              <a:t>같은 패킷의 재수신 여부를 빠르게 판단합니다.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57C7EFB-2F0A-49B3-87A4-478261C1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67350"/>
            <a:ext cx="72390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7F6F8"/>
          </a:solidFill>
          <a:ln xmlns:a="http://schemas.openxmlformats.org/drawingml/2006/main" w="9525">
            <a:solidFill>
              <a:srgbClr val="E7F6F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161F51F-E1D8-409C-9B21-FC2EB72B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6972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패킷에는 함수 구현을 넣지 않고 규격만 둡니다. 송수신 코드와 시뮬레이터가 같은 정의를 따릅니다.</a:t>
            </a:r>
          </a:p>
        </p:txBody>
      </p:sp>
    </p:spTree>
    <p:extLst>
      <p:ext uri="{BB962C8B-B14F-4D97-AF65-F5344CB8AC3E}">
        <p14:creationId xmlns:p14="http://schemas.microsoft.com/office/powerpoint/2010/main" val="10412668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13E50C0-741F-493C-A267-2B5CFD64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9BAF54-DF00-4659-AE66-1C74EA43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03 PROGRAM EXPLANATION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D5C48A-4550-4BF0-80BD-5583CFD8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메시 릴레이 알고리즘의 3가지 규칙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09A002-60E6-4F1D-B835-43708F27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BFD09B-B667-4B2B-AA6C-6B7B19C9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A67EFC-8E97-45C0-9F38-71018C2E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38C564-CC54-410F-8CA9-6D4D703A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1809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0233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57994-89C1-4DBA-8DA1-7074ED2C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수신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C0C1D-C986-4AF8-8931-507FFEBE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812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FinderPacket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2F0790-057D-4AB5-907B-FA48C83D5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24150"/>
            <a:ext cx="2286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74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121DA1-D2CD-451C-A87C-007195319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194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캐시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9DF54D-E664-4D0C-B500-E550AF19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msgId가 이미 있는가?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3C154D-585B-470B-A9C3-7CA979A2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2286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47A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3431EF-0E7D-4A31-B6C6-6351F455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672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TTL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8D58C5-62EC-4590-AB95-1423F0D98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291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0이면 재송신 중지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3B8340-1F8B-4CF2-925C-FE39B7A8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171950"/>
            <a:ext cx="2381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8B6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3A454B-F235-46C6-BC0C-E85F6837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67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rPr>
              <a:t>재송신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9F7D32-5780-45EE-904A-31C7A87F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6291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TTL−1 · 50~300ms 대기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CD1121-CE76-49F7-B939-61E0FF07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724150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23B2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770233-9481-4492-B901-ED15F36E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8194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폐기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9AA2A4-4C09-440F-928E-D0FD1265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1813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중복 패킷</a:t>
            </a:r>
          </a:p>
        </p:txBody>
      </p:sp>
      <p:cxnSp>
        <p:nvCxnSpPr>
          <p:cNvPr id="71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1762125" y="2305050"/>
            <a:ext cx="238125" cy="4191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8575">
            <a:solidFill>
              <a:srgbClr val="10233F"/>
            </a:solidFill>
            <a:prstDash val="solid"/>
            <a:headEnd type="triangle" w="sm" len="sm"/>
          </a:ln>
        </p:spPr>
      </p:cxnSp>
      <p:cxnSp>
        <p:nvCxnSpPr>
          <p:cNvPr id="72" name=""/>
          <p:cNvCxnSpPr>
            <a:stCxn xmlns:a="http://schemas.openxmlformats.org/drawingml/2006/main" id="10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2000250" y="3600450"/>
            <a:ext cx="0" cy="5715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47A20"/>
            </a:solidFill>
            <a:prstDash val="solid"/>
            <a:headEnd type="triangle" w="sm" len="sm"/>
          </a:ln>
        </p:spPr>
      </p:cxnSp>
      <p:cxnSp>
        <p:nvCxnSpPr>
          <p:cNvPr id="73" name=""/>
          <p:cNvCxnSpPr>
            <a:stCxn xmlns:a="http://schemas.openxmlformats.org/drawingml/2006/main" id="10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143250" y="3162300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23B22"/>
            </a:solidFill>
            <a:prstDash val="solid"/>
            <a:head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3143250" y="4610100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B68"/>
            </a:solidFill>
            <a:prstDash val="solid"/>
            <a:headEnd type="triangle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578B92-9B18-40E8-9566-0BABC197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733800"/>
            <a:ext cx="800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E11A1E-625E-47B6-A891-606EE85B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76237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아니오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CFE4F6-904B-4C26-8270-DD6E4F71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9527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DEC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2F9F36-D79C-4A40-AA85-5856D841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9813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CEAACA-A152-4EC7-88B2-F9605D86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04950"/>
            <a:ext cx="413385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70B774-1C6D-4E46-A09A-3FF5F8361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04950"/>
            <a:ext cx="6667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7C36FD-77F7-4D27-9D02-8619BA88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383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중복 억제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238A5BC-0E0E-4CCF-B1A7-AFAC7DB6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81200"/>
            <a:ext cx="3771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최근 msgId 16개를 저장하고 같은 메시지는 다시 전달하지 않습니다.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1D5FB9-CDF3-40C2-8739-A61B69294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C6CCDF-71FB-4FE7-AB39-A92272A1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86BD1E-D70E-4CD2-9C44-B56C7B3F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71800"/>
            <a:ext cx="413385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78DBFC-9FA5-4055-B9CE-BC2D4C9C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71800"/>
            <a:ext cx="6667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55CF7D-DDE1-44C6-BF93-AF885390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051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TTL 감소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4EB0567-D1E9-48A1-B9D5-D81982C3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48050"/>
            <a:ext cx="3771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릴레이마다 TTL을 1 줄여 패킷이 계속 순환하는 것을 막습니다.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AE590A-662B-4807-A755-BE0D629E6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F8C0C70-7AF5-4E1C-BFF3-E03A99E1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3887A1F-5EF4-45B6-8EAB-0F88F0D2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38650"/>
            <a:ext cx="413385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025E47-B17A-44FA-BCAA-0FDDB53F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38650"/>
            <a:ext cx="6667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52AD2C0-E469-457D-AFC3-C61982B3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72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랜덤 지연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9F85F83-64E6-48B5-881C-08DA7BA7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14900"/>
            <a:ext cx="3771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동시에 재송신하는 충돌을 줄이기 위해 50~300 ms를 기다립니다.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574E536-22F9-4900-A9B1-2D5B2905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0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596C59B-4C19-4471-8592-71E3D637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01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C1FD860-186A-42FC-A61A-7DCC3B7D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48300"/>
            <a:ext cx="10610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8D79ECE-8F5B-4B17-93F0-F357C88B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05450"/>
            <a:ext cx="1034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목적: 루프·중복·동시 재송신을 줄이면서 다른 경로가 남아 있으면 D까지 전달합니다.</a:t>
            </a:r>
          </a:p>
        </p:txBody>
      </p:sp>
    </p:spTree>
    <p:extLst>
      <p:ext uri="{BB962C8B-B14F-4D97-AF65-F5344CB8AC3E}">
        <p14:creationId xmlns:p14="http://schemas.microsoft.com/office/powerpoint/2010/main" val="1489026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0FC74F-BEAD-49B1-9687-14E743BA4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0A4112-061F-406E-A2F4-C83BCA90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03 PROGRAM EXPLANATION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15C7A-D5BB-4B44-8E32-C9224B80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프로그램 파일 구조와 핵심 기능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19549A-AED7-4D73-8F5B-4AB95D722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403090-9EA5-4F37-922B-0D021C3D1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5F01A9-FB23-4D05-8648-64A54480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4707F5-210C-4ABE-B11D-548010AB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4762500" cy="4495800"/>
          </a:xfrm>
          <a:prstGeom xmlns:a="http://schemas.openxmlformats.org/drawingml/2006/main" prst="roundRect">
            <a:avLst>
              <a:gd name="adj" fmla="val 2542"/>
            </a:avLst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8FB97-ABCD-4B9B-9AAC-6B1179D3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17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FFD4B4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FFD4B4"/>
                </a:solidFill>
                <a:latin typeface="Consolas"/>
                <a:ea typeface="Consolas"/>
                <a:cs typeface="Consolas"/>
              </a:rPr>
              <a:t>finder-project/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E41DF7-75F6-4717-A893-000C5521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417195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firmware/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common/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  packet.h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  lilygo_t3_v161.h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node/node.ino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handset/handset.ino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handset/hybrid_bridge_check/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  hybrid_bridge_check.ino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sim/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mesh_sim.py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test_detour.py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wokwi/mesh-practice/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  sketch.ino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    fake_radio.h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9F1F8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9F1F8"/>
                </a:solidFill>
                <a:latin typeface="Consolas"/>
                <a:ea typeface="Consolas"/>
                <a:cs typeface="Consolas"/>
              </a:rPr>
              <a:t>webdemo/index.html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510C3E-F776-4F5B-B3C1-EF8DEEE3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428750"/>
            <a:ext cx="57721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5DB07D-B991-4D4E-8F37-870215D9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4287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33A042-8C2F-4C20-8511-532530CA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562100"/>
            <a:ext cx="541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공통 규격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847F98-ED69-4884-8F8A-F192E9F1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905000"/>
            <a:ext cx="5410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packet.h · 핀 정의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패킷 형식과 LILYGO 보드 핀을 한곳에서 관리합니다.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1128AA-DF65-48A4-BD10-E18F6FA2D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571750"/>
            <a:ext cx="57721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BC1F1C-B41F-44AF-8C41-13449A226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5717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125754-D85C-46F6-A59A-3B0285DB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705100"/>
            <a:ext cx="541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제품 펌웨어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E915A1-FB0C-4444-885D-38AD5CBB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048000"/>
            <a:ext cx="5410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node.ino · handset.ino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실물 LoRa 발신/릴레이와 수신·OLED·BLE 기능을 담당합니다.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B9698C-DF23-46CF-8528-8EC75E58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714750"/>
            <a:ext cx="57721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F28D14-FAA9-4A78-BBB1-51035E71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7147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327CB0-1935-41F9-B067-AE8E5F78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848100"/>
            <a:ext cx="541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혼합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01CA64-4C40-4334-8D19-9894BB92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191000"/>
            <a:ext cx="5410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hybrid_bridge_check.ino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MQTT로 받은 가상 메시를 실제 D의 OLED·BLE로 연결합니다.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957D03-4457-44F5-AFBE-090A915D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857750"/>
            <a:ext cx="57721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8A471E-E653-42FE-8B16-17EAB3D6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8577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2E3248-EFA7-40BB-9A34-6AC66690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991100"/>
            <a:ext cx="541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시험 도구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6243B8-33D9-40B3-B195-254DC518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334000"/>
            <a:ext cx="5410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mesh_sim.py · Wokwi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토폴로지·노드 중단·중복 억제와 메시 흐름을 반복 확인합니다.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55018E-A7F1-40B5-8D06-DCC3B455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543550"/>
            <a:ext cx="57721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45A21E-F536-41DA-8E72-24E0E85E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600700"/>
            <a:ext cx="550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모든 시험 코드는 같은 FinderPacket 의미를 유지하도록 작성했습니다.</a:t>
            </a:r>
          </a:p>
        </p:txBody>
      </p:sp>
    </p:spTree>
    <p:extLst>
      <p:ext uri="{BB962C8B-B14F-4D97-AF65-F5344CB8AC3E}">
        <p14:creationId xmlns:p14="http://schemas.microsoft.com/office/powerpoint/2010/main" val="8446343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F2A2F4-0EBA-40BC-81D2-A3AAF177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DF808A-9514-4407-A04E-B064A52E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03 PROGRAM EXPLANATION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9FD599-546A-4EF3-954C-E550B58A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보드 배송 전 혼합 검증 아키텍처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68B4F-3FEF-4B90-9572-D53F5A2F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77540B-FD0E-40FD-906D-DB9E533A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B8C722-66A4-4494-B9F6-6297CD39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E3A85F-4BFB-4777-858A-9B67ACA5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95400"/>
            <a:ext cx="108775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DEC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842307-CDBD-40E8-867D-AB2A0D8CF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1061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MQTT는 LoRa를 대신한 시험용 전송 통로입니다. 최종 제품의 통신 방식으로 주장하지 않습니다.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368A56-8A25-4065-8DCC-E2CE18D6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2190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74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E4FE2D-F000-43AB-BFAC-01BF1AAB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526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Wokwi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FB6AFE-825C-4E02-ADB0-E0029F52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14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A / B / C 가상 노드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E01FEA-A3C1-4760-8BAC-B7C36737E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57400"/>
            <a:ext cx="2190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47A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717233-3127-416D-A6EE-95F4D807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526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MQTT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23A089-4D8F-44C7-A6D3-E35D0432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146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시험 메시지 전달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E0B4BD-995C-4C24-A295-09088093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57400"/>
            <a:ext cx="2571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0233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E49D1C-D62C-4FD6-85F2-02A1E566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526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실물 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7A0206-3F17-4BBA-9F8E-EC25A56A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146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Wi-Fi 수신 → OLED/BLE</a:t>
            </a:r>
          </a:p>
        </p:txBody>
      </p:sp>
      <p:cxnSp>
        <p:nvCxnSpPr>
          <p:cNvPr id="52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3067050" y="24765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E7490"/>
            </a:solidFill>
            <a:prstDash val="solid"/>
            <a:headEnd type="triangle" w="sm" len="sm"/>
          </a:ln>
        </p:spPr>
      </p:cxnSp>
      <p:cxnSp>
        <p:nvCxnSpPr>
          <p:cNvPr id="53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6667500" y="24765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47A20"/>
            </a:solidFill>
            <a:prstDash val="solid"/>
            <a:head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E2C487-7B97-4F85-BB6F-AAA84851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33600"/>
            <a:ext cx="1295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fake_radio.h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F1F69E-C3D4-471C-BE59-A7E300DC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33600"/>
            <a:ext cx="1295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PubSubClient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A9DF58-54CB-4EBD-BEFD-9CD7DADA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14700"/>
            <a:ext cx="52578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223C62-23F3-4273-8438-85F25B55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7477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7D3DF8-EE7F-4381-A879-57C74BA4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5483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A·B·C Wokwi 프로젝트 탭을 한 화면에 배치하고 각 시리얼 로그가 보이도록 캡처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6E8067-87BE-4DD0-B260-2E50B57F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9115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5FF023-BD1E-482B-9A5C-D6C03F9E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972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51252F-7052-4274-A81C-C965230A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81625"/>
            <a:ext cx="455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Wokwi의 A·B·C 가상 노드가 동시에 실행되는 시험 화면입니다.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1B4D49-3AE1-42A4-BAB9-3684ACE9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14700"/>
            <a:ext cx="52578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5DEE4F-D4F7-4F97-8C90-9FC40A1F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7477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DE7086-104E-4868-8373-4C067EE6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483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USB·안테나가 연결된 실물 D 보드와 OLED 화면을 함께 촬영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7B35BF-4875-4AF1-BDD6-1C9F5935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9115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5C84D1-3219-4FA8-836A-A140B6338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1972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1A0616-3E5E-4287-88EA-4CDE9901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81625"/>
            <a:ext cx="455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가상 메시를 받아 OLED와 BLE를 구동한 실물 수신 단말 D입니다.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ADC7DAD-3939-438E-9071-0DD4607D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67400"/>
            <a:ext cx="10782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시험에서 확인한 것: 경로 데이터 처리 · OLED 표시 · BLE 광고 갱신 · B 중단 시 C 경로 전환</a:t>
            </a:r>
          </a:p>
        </p:txBody>
      </p:sp>
    </p:spTree>
    <p:extLst>
      <p:ext uri="{BB962C8B-B14F-4D97-AF65-F5344CB8AC3E}">
        <p14:creationId xmlns:p14="http://schemas.microsoft.com/office/powerpoint/2010/main" val="8140605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87C979-96DF-42E4-9E93-1899CBB3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6062D2-0992-4822-B091-1977FEFC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03 PROGRAM EXPLANATION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844E8-4146-4B45-954F-EDB24DBC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결정적 시연 절차: B 중단 후 C로 우회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DF3389-3F57-4FE7-A874-5BF67A2A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D1CB2-D292-480E-8A7D-CC6E867E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10AD2B-B473-4242-89BC-CDB0E8E6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9C7E52-D95D-4C1A-B1E8-9B8815160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4114800" cy="443865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3B0781-CD06-4F00-89DE-EFBB9CF6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66675" cy="443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A24CD-4B85-498A-A4E9-28BB5204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24000"/>
            <a:ext cx="3752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촬영·시연 순서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9EB3E3-BB90-4BBB-BAB1-8F3F9C16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0E3648-E930-476B-A940-09EB3121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B08327-D916-4BD3-A5D8-7D54C3BA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905000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실물 D를 켜고 MQTT 구독·OLED·BLE 초기화를 확인합니다.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E9D1FB-37D2-420B-804C-970DA53E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AEC1CA-DD38-4DC1-8117-E63BCB40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E4B4E9-A8F9-4023-9A29-E73091E9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47950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Wokwi A, B, C를 실행하고 A의 발신 로그를 확인합니다.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C53D13-EDE1-4E29-B754-268894C3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1E21D8-A030-49E2-A8B8-0E3B0099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7B37ED-FB3F-4259-8AD7-3C750106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390900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D의 OLED에서 A → B → D 경로를 확인합니다.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BF4EF3-07A7-4B20-A172-21701343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529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3B22"/>
          </a:solidFill>
          <a:ln xmlns:a="http://schemas.openxmlformats.org/drawingml/2006/main" w="9525">
            <a:solidFill>
              <a:srgbClr val="C23B2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56894F-FF6D-4B17-A3C3-BD150C5B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529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F97B33-D359-4814-9151-1852957B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33850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B 프로젝트의 실행을 중지하고 A와 C는 계속 실행합니다.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7DBEF9-559E-4EC6-9749-AB0E8CE4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B08035-255B-4742-9D38-B644BBE5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D4C184-41D7-4398-A1B7-04065370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876800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D가 A → C → D로 다시 수신하는 장면을 확인합니다.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F06EBD-23FE-456F-BFC8-DCE5BA5E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90650"/>
            <a:ext cx="28575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7F6F8"/>
          </a:solidFill>
          <a:ln xmlns:a="http://schemas.openxmlformats.org/drawingml/2006/main" w="9525">
            <a:solidFill>
              <a:srgbClr val="E7F6F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F30A41-511D-42A5-B3B4-A222DCC1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44780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정상 경로  A → B → 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2B972A-B9E6-4528-A315-9BD6FDCF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90650"/>
            <a:ext cx="31813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1649B4-E093-4373-B3E9-14EBF9F9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44780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우회 경로  A → C → 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F7AFA7-B528-42CD-B641-825CB5FF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171700"/>
            <a:ext cx="3048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0392BC-ECBF-4221-B896-46C94AC2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3845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2B689F-28A6-4294-B097-93103E0D0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409950"/>
            <a:ext cx="2514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323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B가 실행 중일 때 B의 릴레이 로그와 D의 A→B→D 표시가 함께 보이는 캡처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5B50FD-8271-4416-87A7-13FFB7BD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2915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A499E91-12BA-461C-BE24-74AF3749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65772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B767E91-E513-44AE-A01B-1CE80B30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1962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51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 B가 동작할 때 확인한 정상 경로입니다.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709B6A-5E53-45D4-B46F-431A0544A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71700"/>
            <a:ext cx="3048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59F67FF-AAE0-48AE-A51C-A232F2BF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3845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2C3E9B7-A42A-4CAC-BAF1-BC4B6503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09950"/>
            <a:ext cx="2514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323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B 중지 표시, C 릴레이 로그, D의 A→C→D 표시가 보이는 캡처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C709F5-F1B4-443C-802A-711B5493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62915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34D31A-843F-4C45-9BA0-95A2534C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65772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EACD85-1258-4ADA-8789-0FF43D01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1962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779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 B를 중단한 뒤 C로 전환된 우회 경로입니다.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F25AE5-22BE-4FA5-9030-6DAAEFFC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19700"/>
            <a:ext cx="64198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DEC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877E5E-EB2E-410D-9324-492E75E7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276850"/>
            <a:ext cx="615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영상에서는 B를 중지하는 장면과 D의 경로 변경을 끊지 않고 연속 촬영합니다.</a:t>
            </a:r>
          </a:p>
        </p:txBody>
      </p:sp>
    </p:spTree>
    <p:extLst>
      <p:ext uri="{BB962C8B-B14F-4D97-AF65-F5344CB8AC3E}">
        <p14:creationId xmlns:p14="http://schemas.microsoft.com/office/powerpoint/2010/main" val="14076015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300D23-2983-4655-BDCD-FD76A4A1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0EA728-FD1B-46CF-866D-49B9155E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03 PROGRAM EXPLANATION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673EC4-6045-4C43-941F-A59C8871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실물 수신 단말 D: OLED 표시와 BLE 재방송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E64BAC-DDEF-4909-A891-186D8168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DDFD4C-EB8B-4365-8B89-7EE7804F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1EDFAD-6F97-4D41-868B-397919BA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056FAD-002C-4B25-8DE0-4324AEAF6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4343400" cy="19812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DE6186-DFF0-4946-BA88-E177C038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6667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CF799-DDAB-4E50-9AD2-CF5C77DD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43050"/>
            <a:ext cx="398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OLED 표시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3EC5D5-AD7A-447B-9A58-28CE9221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39814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Facility : AED/소화전/화장실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Path : A → B/C → 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MSG # : 메시지 번호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TTL : 남은 릴레이 횟수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Link : 시험 연결 상태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A9BC13-1520-443E-872F-83E02F42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62350"/>
            <a:ext cx="434340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D45DD-8ED6-40B9-A7F9-4EBD0B10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6235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519EFA-15A6-4DC9-B27D-5062C2BA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398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BLE 광고 데이터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C7E1A6-6B67-48A6-861E-BF472338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9814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이름: Finder-D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Manufacturer data: 11바이트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버전 · 시설 종류 · 상태 · src · lastHop · msgId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0xFFFF는 시험 식별자이며 등록 Company ID로 주장하지 않습니다.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686FEC-5EBF-4CA6-804E-159DFE49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409700"/>
            <a:ext cx="6000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38AC37-1266-4674-8B75-3225FD12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05762"/>
            <a:ext cx="569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C2FCC5-6132-43DA-BD14-5EA82E61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30958"/>
            <a:ext cx="546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OLED 글자가 초점에 맞고 Facility, Path, MSG, TTL이 읽히는 근접 사진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067007-EA3F-43BD-BF7F-9617C0B7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5755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3EFBDD-BA5C-4115-BCE0-DF37D54B4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28612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4449F8-1EDA-4B03-AF7D-9E6CC127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248025"/>
            <a:ext cx="5295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수신 패킷의 시설 정보와 경로를 표시한 실제 OLED 화면입니다.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F06D8E-2A55-4683-B12E-87A63F97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14750"/>
            <a:ext cx="6000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04BCE8-52CB-4E67-BB94-B9685793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10812"/>
            <a:ext cx="569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CA4F8D-7C38-45E1-9008-B086FDF5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636008"/>
            <a:ext cx="546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nRF Connect에서 Finder-D를 펼쳐 Complete Local Name과 Manufacturer data가 보이는 화면 캡처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9129E4-8AFB-4241-8D1B-E6B9DB06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56260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B15824-FB2F-44CF-9EA9-92B71C0C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591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17E9D4-1208-472B-BA70-04EB073A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553075"/>
            <a:ext cx="5295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Finder-D BLE 광고와 Manufacturer data를 스마트폰에서 확인한 결과입니다.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E8C381-4B48-4C6D-8933-40CB2915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019800"/>
            <a:ext cx="596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BLE는 연결하지 않고 광고 패킷을 스캔하여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653820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A56FEF-2387-47A1-83B5-642D116B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5FE7B-108D-43E9-A799-3C79B259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04 OBSTACLES &amp; SOLUTIONS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086B7E-25B4-4900-9F08-3B17EE2B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난관 1: 보드 배송 지연과 모델 변경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D277D0-2A5E-499B-82A1-F0196C05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F54A6D-5337-4F40-A633-AC23BEB7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B14BE8-A3D3-4C64-9BF4-CBF5FC36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81FBA3-B7E2-40EA-BDB8-E6C4F22C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55626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5C7B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587CDD-CCF6-4E31-A947-FF434264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3B22"/>
          </a:solidFill>
          <a:ln xmlns:a="http://schemas.openxmlformats.org/drawingml/2006/main" w="9525">
            <a:solidFill>
              <a:srgbClr val="C23B2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E0EFA9-958B-4E7C-AF0B-A188C23C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문제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007EE6-3465-4D0C-A8E1-72FB1292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05000"/>
            <a:ext cx="52006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제출 직전까지 실물 보드가 1대뿐이어서 A·B·C·D 4대 LoRa 무선 시험을 바로 진행할 수 없었습니다.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0D3182-5E24-4275-A28B-C3CC9C19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55626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B8E3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4D45C0-0728-4715-82FE-BC28FA26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666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119BB4-1A5B-4A59-97D7-87006280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해결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9053C4-3982-4458-8B6F-631522BA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48050"/>
            <a:ext cx="5200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무선 전송 계층을 분리하고 Wokwi A/B/C가 MQTT로 패킷을 보내도록 구성했습니다. 실제 D는 같은 패킷을 받아 OLED와 BLE를 구동했습니다.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8A5F6C-F504-40F4-A9DB-730FFFCF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24400"/>
            <a:ext cx="55626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8D0B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1F1C38-8ACD-4AB1-9509-2916BE7E2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244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A5CAE9-9C72-414E-B5CB-6251F73D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정직한 한계 표시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C7BF32-EC6A-496C-BA46-765EBAC5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5200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혼합 검증 결과를 실제 LoRa 거리·RSSI·4대 RF 성공으로 표현하지 않습니다.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837FB1-D7CE-4296-8E86-7850F220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62100"/>
            <a:ext cx="4724400" cy="3162300"/>
          </a:xfrm>
          <a:prstGeom xmlns:a="http://schemas.openxmlformats.org/drawingml/2006/main" prst="roundRect">
            <a:avLst>
              <a:gd name="adj" fmla="val 3614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D4059A-FC94-4646-8A92-D7212BD8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47544"/>
            <a:ext cx="441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0BDE76-ACA2-4013-9B38-DC283091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206496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실제 보드 뒷면의 433/470MHz 및 T3 V1.6.1 라벨을 선명하게 촬영한 사진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96B3DC-2D03-477C-8035-44250302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5E5699-CC51-4CA4-9055-74EC19C0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829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10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9C29B6-870A-4F30-B413-271C7B01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791075"/>
            <a:ext cx="401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배송된 실물 보드의 모델·주파수 표기를 확인한 사진입니다.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6E70C1-7A64-4127-8EBE-743D5805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14950"/>
            <a:ext cx="47244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404402-EB6D-4CBD-BAD9-26A87AF1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72100"/>
            <a:ext cx="445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후속 조치: 동일 모델 3대 도착 후 A/B/C/D에 펌웨어를 올려 RF 우회 시험을 반복합니다.</a:t>
            </a:r>
          </a:p>
        </p:txBody>
      </p:sp>
    </p:spTree>
    <p:extLst>
      <p:ext uri="{BB962C8B-B14F-4D97-AF65-F5344CB8AC3E}">
        <p14:creationId xmlns:p14="http://schemas.microsoft.com/office/powerpoint/2010/main" val="11891768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F56656-3301-4816-8CED-4247F84E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7B5A2-7883-4B24-8645-40E58D84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04 OBSTACLES &amp; SOLUTIONS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B3B427-427A-4264-9A01-641647F1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난관 2: 직접 수신·중복 패킷이 우회 시연을 가리는 문제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578853-26D8-47BE-AAD8-ABB72EE7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C40F24-50B4-4925-BF0A-EA0BD6C8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3D2EC8-A40B-4AE1-860C-5C530F41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3706C-3BA3-4952-9718-E572F00D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33500"/>
            <a:ext cx="108775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DEC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443D0-DD70-4034-B5AB-C4D55873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10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플러딩에서는 같은 msgId가 여러 경로로 도착할 수 있으며, A의 직접 메시지가 먼저 보이면 B/C 중계 여부를 판단하기 어렵습니다.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17DECB-4206-4873-82C3-BA1EBA0F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4287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47A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E4568-D1F2-45AC-A437-AAD4E5ED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A48F68-32D4-417B-AEA1-2BB3FD8B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발신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FE8153-1CC9-4CCF-B1AC-297D6A1B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47900"/>
            <a:ext cx="14287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74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E85683-A8BC-43A7-8A84-83CE8D1D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3431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41716E-686D-4F22-B9C6-C79937AF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051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B3C1C6-C943-4C67-8615-F12AC8A5A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62400"/>
            <a:ext cx="14287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E74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9B3966-8CEA-463A-B187-063B62F5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576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88D4B6-5F45-4E7F-B93A-6CF01610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19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6E6958-F32E-436D-8224-99580CFD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57500"/>
            <a:ext cx="14287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0233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29E251-A8A1-4B6B-9E39-9F77E4B5B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9527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1CFCA0-1213-4F22-9779-021C4ECA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147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표시</a:t>
            </a:r>
          </a:p>
        </p:txBody>
      </p:sp>
      <p:cxnSp>
        <p:nvCxnSpPr>
          <p:cNvPr id="61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 flipV="1">
            <a:off x="2228850" y="2647950"/>
            <a:ext cx="1028700" cy="6096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E7490"/>
            </a:solidFill>
            <a:prstDash val="solid"/>
            <a:headEnd type="triangle" w="sm" len="sm"/>
          </a:ln>
        </p:spPr>
      </p:cxnSp>
      <p:cxnSp>
        <p:nvCxnSpPr>
          <p:cNvPr id="62" name=""/>
          <p:cNvCxnSpPr>
            <a:stCxn xmlns:a="http://schemas.openxmlformats.org/drawingml/2006/main" id="9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2228850" y="3257550"/>
            <a:ext cx="1028700" cy="11049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47A20"/>
            </a:solidFill>
            <a:prstDash val="solid"/>
            <a:headEnd type="triangle" w="sm" len="sm"/>
          </a:ln>
        </p:spPr>
      </p:cxnSp>
      <p:cxnSp>
        <p:nvCxnSpPr>
          <p:cNvPr id="63" name=""/>
          <p:cNvCxnSpPr>
            <a:stCxn xmlns:a="http://schemas.openxmlformats.org/drawingml/2006/main" id="12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4686300" y="2647950"/>
            <a:ext cx="1123950" cy="6096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E7490"/>
            </a:solidFill>
            <a:prstDash val="solid"/>
            <a:headEnd type="triangle" w="sm" len="sm"/>
          </a:ln>
        </p:spPr>
      </p:cxnSp>
      <p:cxnSp>
        <p:nvCxnSpPr>
          <p:cNvPr id="64" name=""/>
          <p:cNvCxnSpPr>
            <a:stCxn xmlns:a="http://schemas.openxmlformats.org/drawingml/2006/main" id="15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 flipV="1">
            <a:off x="4686300" y="3257550"/>
            <a:ext cx="1123950" cy="11049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47A20"/>
            </a:solidFill>
            <a:prstDash val="solid"/>
            <a:head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AC9F5D-D24B-44B5-876F-24CBFCFB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18135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3B22"/>
          </a:solidFill>
          <a:ln xmlns:a="http://schemas.openxmlformats.org/drawingml/2006/main" w="9525">
            <a:solidFill>
              <a:srgbClr val="C23B2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C2988E-85D6-4F27-845B-7554D76D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575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직접 A→D 경로는 혼합 시연에서 제외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CA1445-5D08-4A23-A89C-B9FCD288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28850"/>
            <a:ext cx="36576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353ABC-CCE6-46E4-BE95-DD9D5983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2885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DE9D0F-5D8E-4262-BCB6-190E1359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62200"/>
            <a:ext cx="329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msgId 캐시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DE0ADC-25B2-43D5-9CA1-EE83228A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05100"/>
            <a:ext cx="3295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같은 메시지를 다시 받으면 폐기하여 OLED가 중복 갱신되지 않도록 합니다.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CC5C15-691A-4CC4-B2A4-BA1D9E8A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05200"/>
            <a:ext cx="36576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274DF2-F719-4EC9-80F9-8DE75344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0520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A344B7-C5C0-4D5A-9BB6-30BABED9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38550"/>
            <a:ext cx="329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lastHop 기록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CBBFE1-8C01-472B-B4EE-FD98187F8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81450"/>
            <a:ext cx="3295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직전 중계 노드를 기록하여 D가 A→B/C→D 경로를 표시합니다.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C9BE96-35CA-40BB-BFA5-14286B65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36576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6C95AA2-4BC1-4870-AAB5-DCB84A092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2E5151-7C62-45CC-B1BF-F5C4D3F8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14900"/>
            <a:ext cx="329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시험 토폴로지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B2EE60-5CE1-47A2-9483-71A6DED0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57800"/>
            <a:ext cx="3295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가상 링크를 A–B–D, A–C–D로 제한하여 중계 전환을 명확히 봅니다.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4EEDFC-4B82-49DF-84D9-FA72DF99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67350"/>
            <a:ext cx="108775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BAD5CD-9113-43CF-8865-63B98F4B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10610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rPr>
              <a:t>결과: B를 중지하면 C 경로가 화면에 나타나므로 우회 여부를 사람이 즉시 확인할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91615101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08DEC77-2693-45BB-9093-3026FF11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1B8A91-4FE5-4B9C-9B5B-A59F0075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05 VERIFICATION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3518F5-9FFB-4EDA-9114-A6BD5CA1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기능 검증 결과와 증거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C1081-DC7A-42C4-8B39-79093B6F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FAA549-47E1-42FA-9E59-54477ECA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FEBDF3-5745-429F-8A7C-897DC6CA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627F9-37D6-4753-8051-D5C7E1DC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33500"/>
            <a:ext cx="22860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1"/>
          </a:solidFill>
          <a:ln xmlns:a="http://schemas.openxmlformats.org/drawingml/2006/main" w="9525">
            <a:solidFill>
              <a:srgbClr val="E8F6F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B15B4D-ACA2-4136-B5C2-010204C30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6207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rPr>
              <a:t>시뮬레이터 4종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389798-0850-4CC2-94E4-7C1D2514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333500"/>
            <a:ext cx="22860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F8"/>
          </a:solidFill>
          <a:ln xmlns:a="http://schemas.openxmlformats.org/drawingml/2006/main" w="9525">
            <a:solidFill>
              <a:srgbClr val="E7F6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BD2B63-8277-4FEC-9D2C-AF0FAFD18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36207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혼합 시연 3종 관찰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E84BD5-A6FE-4A43-821C-5D070C6F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333500"/>
            <a:ext cx="2190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CD40A-7076-4E61-80A1-A6062A37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362075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4대 LoRa RF: 후속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0FC359-93AF-45BE-B317-93AFC9A4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28800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90867F-7FB6-4E31-A894-754B8117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66900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시험 항목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921E15-6461-40C6-B9A1-3D1F8B1D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28800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DF493E-7470-45EB-8006-CFAF03D1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66900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5892F9-6C0E-4BF5-9761-1FC78796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828800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8552D9-BBBF-42B3-B524-6C6DC4FF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66900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확인 내용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B6AA2-9F52-4482-948F-69008F21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76475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621AEE-760B-4688-8ABF-667D5BF05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14575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다이아몬드 정상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8FA57C-2E2E-4025-B93D-283B58CF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76475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0EF516-F4C3-4D20-A238-A24CAB09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14575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78B09C-4B05-4623-B8BD-CCAED0B4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76475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4DF790-479A-4CE6-B99C-41D09BEC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314575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A→B/C→D 도달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6ACE3A-D3E6-4BD3-80F0-01281209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24150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B7C12D-7331-435C-AE9A-B8C1EDC6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B 제거 우회 20 seeds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68407F-A6F8-4BE2-B0A6-EDFB19E6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24150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58C30B-4BD6-419A-BFC4-BECD4FBB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62250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4C9F3A-4DF1-4457-A610-20F12DEB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24150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775601-2E10-4B46-B88E-D2DF1B81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62250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A→C→D 유지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E801D4-34B6-466D-BC06-296A0C50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71825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32EF54-E3AD-4CBD-86D1-A0A6EA4E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line4 B 제거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2606EB-BA3A-41AF-8008-C96DAFBF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171825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99444B-8E60-4A6D-9BD5-E50263C1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209925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예상 실패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8BF005-06C6-4ECB-A65A-5BD877E0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171825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7B7F9C-6786-4D5C-B403-0E33F230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209925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대체 경로 없으면 D 미도달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E672602-D54E-4201-8980-775F44FC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0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0DA206-8AFC-4E36-A995-0278EAB3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7600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중복 억제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7C5019-839B-4DAF-AE88-83B40522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619500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CCC68F-B28A-48A7-A99B-2DED3F85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657600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5487842-85A8-41D5-95CF-34528E36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619500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60B9C0-1C26-41D0-840D-64D174D61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657600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같은 msgId 1회 처리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3A307FC-27FE-4E95-9F3F-2D3E3ACF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F36232-45AA-411C-868B-CA05A449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05275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혼합 정상 경로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3B48150-B3AA-40CD-B39D-EFD32467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67175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AFBE31F-B3E1-4674-AD90-A4C5F5D8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105275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79FE4C4-BF52-4A9B-B29C-478F4DF7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067175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C8EA5C1-4A45-4124-9A7F-88E0CD1A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105275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OLED A→B→D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7DC072F-ED66-409B-A1CD-E9E05E090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FDFF6CA-2055-46E8-9C5D-1E7F9A402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혼합 우회 경로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5BE9D9B-F69D-4DB2-B27F-9856C4A0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14850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5376EA8-8EAB-42F4-B022-F576D7F7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552950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B175879-9CC6-4F4E-B4CE-44355DC7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514850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F6D402C-DA75-455E-815E-0A313FC1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552950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B 중지 후 A→C→D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8B22AAC-7588-4BD9-B08A-8BAAFBD9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62525"/>
            <a:ext cx="2190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681B2F4-CB0F-4B3C-9369-2E9A39D1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00625"/>
            <a:ext cx="2076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BLE 광고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3BBDC3E-92DF-4EA4-9D99-98111AC4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962525"/>
            <a:ext cx="1047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BB673D4-5BE2-4045-B42A-EC1442D1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000625"/>
            <a:ext cx="933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1ABEDC6-0391-496D-8AAA-75A5498C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962525"/>
            <a:ext cx="33337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02C9DC2-05FD-4844-B344-5021B930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00625"/>
            <a:ext cx="32194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Finder-D Manufacturer data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4CAC7BC-58AC-4E7C-994B-2F3FCBCC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28800"/>
            <a:ext cx="3848100" cy="24003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36AB3A4-1000-4324-AF61-2EF98BB3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00884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1F91549-C1AC-42D2-AF4A-78F41E2F1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76956"/>
            <a:ext cx="331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Python 테스트 실행 결과와 B 제거 우회 로그가 한 화면에 보이는 터미널 캡처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913098F-8C14-4306-8F0D-00E97F7A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0530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61F1D79-CCF8-475C-90B6-8A6CB849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3338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11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72BC051-4480-415B-9E3C-8CC26A88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9577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시뮬레이터 회귀 시험과 우회 수신 로그입니다.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C698C3A-2059-47B1-9C97-E94426AE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76800"/>
            <a:ext cx="3848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5C7B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2E456E5-AF97-413A-94E2-1C11E744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768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3B22"/>
          </a:solidFill>
          <a:ln xmlns:a="http://schemas.openxmlformats.org/drawingml/2006/main" w="9525">
            <a:solidFill>
              <a:srgbClr val="C23B2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BB73544-3326-4ACA-98E0-373495C1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10150"/>
            <a:ext cx="3486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수치 해석 주의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7C40420-9DBF-4582-B3B9-19373A61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53050"/>
            <a:ext cx="3486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2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seed 42에서 D 수신 293 ms는 이산 이벤트 시뮬레이션 예시이며 실제 LoRa 지연 시간이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5400445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A3DC35-DA17-4AF4-9A68-86802A2C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F5AA2B-10F7-4B88-99CB-62DE7867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06 DIFFERENTIATION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622C4-5560-45A1-8690-68F4C873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기술적 차별성과 설계 의도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CBCAC6-FD86-41A7-A72B-B3AAD79E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411745-8477-40FE-84B5-72A0710E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286EC2-1DB5-4783-AC22-079C8BB1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1E951E-10AA-4A31-B2F0-8B36749C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5219700" cy="1885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C59F67-F1A9-429A-85C4-9705BB177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6667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898157-28E5-486D-86BC-D30B81B1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1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3계층 연속 안내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9E52ED-DF3B-48C6-B681-1F07D4B7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43100"/>
            <a:ext cx="4857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지도·BLE·메시를 상황에 따라 이어 한 방식의 통신에만 의존하지 않습니다.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DF9EBC-BB1E-4FC8-89CA-A13E8C9D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38300"/>
            <a:ext cx="666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EFB857-6B2C-4509-805A-1FBF66D2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6668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48434B-BB6D-4F85-839C-BA54A253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66850"/>
            <a:ext cx="5219700" cy="1885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336CA5-6A93-4A90-9B49-8AC31EFB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66850"/>
            <a:ext cx="6667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B8DC7C-4ABE-486D-AC99-C40302FC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0020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1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단일 장애점 완화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30D308-CFE1-45D5-8453-1EC53A09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43100"/>
            <a:ext cx="4857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B가 중단되어도 C 경로가 남으면 같은 메시지를 D로 전달합니다.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5E7830-E17F-4866-B645-6439629A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38300"/>
            <a:ext cx="666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DD525F-5B8A-4F84-879B-38BEBED4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6668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AD0A37-454B-4280-8E3D-61214986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81400"/>
            <a:ext cx="5219700" cy="1885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E0D764-D269-4DF8-94D7-CF65C3AA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81400"/>
            <a:ext cx="6667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94F16E-F3E2-4C8F-949D-EFFD96BC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1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수신 후 지역 재방송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EDEC5E-4B76-4333-8A4F-092095F8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4857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D가 LoRa/시험 메시지를 BLE 광고로 바꾸어 주변 스마트폰이 확인할 수 있습니다.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07C2C6-8CE9-4C5A-A794-D6144EC4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52850"/>
            <a:ext cx="666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E00F54-2098-4566-88DB-61BC9B10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7814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C84FE5-2594-49E4-9560-53E3CEC9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581400"/>
            <a:ext cx="5219700" cy="1885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50913A-B293-4117-8B53-FB2EB9C8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581400"/>
            <a:ext cx="6667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626D93-C047-4574-BE1D-9240017D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1475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1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검증 가능한 공통 규격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119BD6-7FD7-4475-A974-5E76D379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57650"/>
            <a:ext cx="4857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9바이트 패킷을 펌웨어·Wokwi·Python에서 함께 사용해 동작을 비교합니다.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67E52D-BF5E-4AEE-A8BD-D9286BFA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752850"/>
            <a:ext cx="666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150FDC-C78B-4742-9D74-B98A56A4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7814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87FAF2-A058-4DB8-8BB5-8A2974EA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53100"/>
            <a:ext cx="106870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0EBE3A-1038-438F-8CBF-B9CF0793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1042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핵심은 ‘최장 거리’가 아니라, 노드 하나가 중단되어도 다른 경로로 시설 정보가 이어지는 구조입니다.</a:t>
            </a:r>
          </a:p>
        </p:txBody>
      </p:sp>
    </p:spTree>
    <p:extLst>
      <p:ext uri="{BB962C8B-B14F-4D97-AF65-F5344CB8AC3E}">
        <p14:creationId xmlns:p14="http://schemas.microsoft.com/office/powerpoint/2010/main" val="147039283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909024-93E4-45D4-BBB4-CA1E4150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C96123-F998-4244-95BE-06D3CAE0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07 IMPACT &amp;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EB4000-F358-4A46-A674-EDF236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기대효과·활용성·발전 계획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713313-4B55-4C2A-9E94-AE15AD881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87B564-B4B9-4AAB-A9BB-CD6FA91D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B32CCF-7193-4D33-A09D-2F2C2F9E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C48593-CA5D-4EAC-A915-0C3B21FB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04E9FC-71F8-4523-8CD0-5FF9EE47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66900"/>
            <a:ext cx="4762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C84F99-3EC8-44FE-9C4E-84EF12C4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669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9E407D-C4DD-4575-951D-35923265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신속성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1807DA-501B-42D3-86DA-B8F3C26B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4400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시설명과 경로를 한 화면에서 확인하여 탐색 시간을 줄이는 방향입니다.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9A6080-D17C-4341-AE41-95C3D213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19450"/>
            <a:ext cx="4762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59ED2A-841A-402F-BBFE-43FFA6F3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194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6A9432-A0D4-473F-88EF-4F1D3422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회복력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C4439D-3549-433E-887F-11EDCB89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400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중계 하나가 꺼져도 다른 경로가 있으면 전달을 이어갈 수 있습니다.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008042-72AC-45BD-87B1-A745E1D5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72000"/>
            <a:ext cx="4762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43119F-9FAF-4BBE-A07A-D13B6154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720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F9DD79-A4A8-418B-9D53-C6FA32A1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확장성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3C68D4-00B0-4DD7-8AEE-F9C59508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48250"/>
            <a:ext cx="4400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AED 외에 소화전·화장실·대피소 등 시설 유형을 추가할 수 있습니다.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238372-C497-4D9A-B6F8-1C3E3A93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3906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후속 개발 로드맵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D63588-7977-40F0-84C3-0A1AAB30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2D6E47-2149-4E05-A63E-627F25EA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050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1F2A40-40FA-4DA5-BBAE-915E80C5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669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4대 실물 RF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200D25-CDD2-4559-82BE-04099DFB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717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동일 보드 4대에 펌웨어를 올려 B 전원 제거 우회를 재검증합니다.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F4C073-2483-452F-B40A-CADB6AD7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71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ACC572-358D-49CF-8EE6-5006BF1F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718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6AF7AD-F0FE-4FC2-B395-45B1C1F9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거리·RSSI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8F98D1-32C6-4256-ACA2-22115852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385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여러 장소에서 RSSI·수신률·지연을 기록하고 과장 없이 범위를 정합니다.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E8E7F0-A558-47C7-8585-8EFB8127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9CD6DF-4112-4640-957E-380278FD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386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E87034-00EE-4305-A64E-E169B3BD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005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웹 데이터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526DEB-75B1-4035-9985-EBE7FAB6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3053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공공데이터 CSV 스키마를 확인해 현재 위치 기준 최근접 시설을 연결합니다.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2324DC-EF90-4C59-B1C0-7787D0A2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1054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18DAD8-3490-46AF-8110-B413A140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1054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838599-5DB0-4BF1-92B9-222AB58B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673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현장 협의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2A3C45-D7C4-40AE-8739-8B6574717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3721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설치 주체·관리 기관과 안전·전원·전파 조건을 검토한 뒤 실증합니다.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2168EF-F102-448C-B1A6-60473C7A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810250"/>
            <a:ext cx="53340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DEC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C14327-C1C9-4B26-A848-CE95D94A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86740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61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실생활 적용 전에는 무선 적합성·시설 관리 주체·비상 안내 책임 범위를 반드시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81886815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8F60FC3-2EBA-4681-8C6E-B0434D87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0A2563-2612-47C3-999B-E0649BC2D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08 SCHEDULE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C36735-3E5C-40A8-91B3-6AE4870E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개발 일정과 제출 전 마무리 계획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9F83DF-B49C-4C97-A601-FC59371B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F4D671-CF50-4490-B14D-472D6A53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E11E8-3B7B-4436-8533-13C44445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D02169-DF59-4ECF-82DB-D8BD1DAA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9810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2DF0DA-7C2A-455C-A07B-4462DE71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09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C77D1-AD99-475C-B928-F830CD08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098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D4907A-1C27-4666-BEEB-CC5A6AEAC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1620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68CB49-CA01-4CC6-A080-8915F86BF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859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08.22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2E660D-9A23-4EA9-912E-41AE8DC8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구조·규격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C4375D-A516-485F-BBE8-6313ABA6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52800"/>
            <a:ext cx="1504950" cy="16192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AEFBE9-A6FB-435F-BF37-E6D38FF5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143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저장소 골격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packet.h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문서 초안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6E59D0-5FA3-48D9-936F-6B06C105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09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2FC8A4-75F1-4A8A-AC83-A10E77295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098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BF5CEA-D20C-4E4F-BC87-00C51144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657350"/>
            <a:ext cx="11620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4CA23A-F4E2-43AB-9F86-04CFF85D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859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E7490"/>
                </a:solidFill>
                <a:latin typeface="Malgun Gothic"/>
                <a:ea typeface="Malgun Gothic"/>
                <a:cs typeface="Malgun Gothic"/>
              </a:rPr>
              <a:t>08.29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322C41-6C53-4EF9-8EF1-E8B7C9F8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0764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실물 D 구동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869DC2-8C2B-424E-A25D-0176678F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352800"/>
            <a:ext cx="1504950" cy="16192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AF6C29-575A-42C3-8E8F-500CAFB3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505200"/>
            <a:ext cx="1143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Arduino 업로드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OLED·Wi-Fi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BLE 초기화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D7F90F-721E-4095-9248-7EBD458D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09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F27D88-34B0-4173-9209-8C9CD970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098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7209B9-A1E8-4AB4-8B16-D78B76D0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57350"/>
            <a:ext cx="11620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31D74A-D388-40AE-A0E7-10711E20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6859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08.31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1AF303-606D-4983-A402-33EF64B2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764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혼합 검증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82CA80-7D3F-489F-9081-177E1036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352800"/>
            <a:ext cx="1504950" cy="16192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03B412-318B-42E9-9617-914D3674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05200"/>
            <a:ext cx="1143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LILYGO 변환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Wokwi A/B/C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MQTT 브리지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0FD973-6A41-49E4-A810-EE956E75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09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B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30E834-60B9-48E0-AF04-EF7E4183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098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AB11556-9B45-4572-8CC2-5C686C32A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57350"/>
            <a:ext cx="11620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A31A8A-26E8-4C01-B20D-A3C7C8444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859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168B68"/>
                </a:solidFill>
                <a:latin typeface="Malgun Gothic"/>
                <a:ea typeface="Malgun Gothic"/>
                <a:cs typeface="Malgun Gothic"/>
              </a:rPr>
              <a:t>09.01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51135B-8485-41FB-9D9C-1FBF62B5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764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우회·BLE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AE808D-A788-4CC5-A153-08536F80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1504950" cy="16192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B6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F702D5A-C85B-4CB9-8485-ECDBB9AF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1143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B 중단 우회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nRF Connect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영상 장면 점검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FB75E0-DA8F-4C22-AAC1-57AD306C2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09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16B09A7-F66E-447F-B3EB-746788F9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098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3000E5-70D9-4A06-AEF1-7BED3947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57350"/>
            <a:ext cx="11620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F5F7F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D4620BB-7C24-4D75-834F-4132BC571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859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09.02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5B2A2B-B350-4F9C-B6FF-696A69A9E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0764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제출물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D35BFE1-0354-4259-A3C1-E3D3CA41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352800"/>
            <a:ext cx="1504950" cy="16192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63F7F7C-DEE7-468B-9713-715B90A4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05200"/>
            <a:ext cx="1143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신청서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완료보고서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역할 정리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5F96469-8482-433A-B0DA-177CFF2E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609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3B2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B8A19F-BD6B-4F23-9901-BE9578E9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6098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E3172A-2161-4FD5-9793-573A61E0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657350"/>
            <a:ext cx="11620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DEC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3601D30-5B3E-4247-9D67-852CF058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859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09.03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10F3181-77D1-420F-A81B-7A940980F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0764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제출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4CC7DF2-0BA3-4B01-ABB2-8555F640C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352800"/>
            <a:ext cx="1504950" cy="16192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23B2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3F62269-113E-48EF-8E4B-5387F5A1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505200"/>
            <a:ext cx="1143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사진·링크 교체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PDF 변환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13:00 제출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6A392A2-C8EE-4262-B80C-C199FA87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67350"/>
            <a:ext cx="10858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FF1E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65E5DF-F209-4184-88D7-1BD748F0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1059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제출 후 계획: 동일 보드 3대 도착 → 4대 LoRa RF 우회 → 거리·RSSI 기록 → 웹 공공데이터 연결</a:t>
            </a:r>
          </a:p>
        </p:txBody>
      </p:sp>
    </p:spTree>
    <p:extLst>
      <p:ext uri="{BB962C8B-B14F-4D97-AF65-F5344CB8AC3E}">
        <p14:creationId xmlns:p14="http://schemas.microsoft.com/office/powerpoint/2010/main" val="180055887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DB6D8F-14D8-4607-892B-1CDE3EA34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C3F7C5-C421-418F-8A1D-70726E2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09 TEAM &amp; SUBMISSION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B11344-FE8C-42C5-AFA9-1E10A947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역할 분담·AI 활용·제출 전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9D30D0-818F-463C-8AAB-3A47DE75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7AE8CB-6740-4164-A4B5-AED8A2F5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7A8798"/>
                </a:solidFill>
                <a:latin typeface="Malgun Gothic"/>
                <a:ea typeface="Malgun Gothic"/>
                <a:cs typeface="Malgun Gothic"/>
              </a:rPr>
              <a:t>2026 ESWContest · Finder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019AB2-5479-4FB1-9361-2FE6E098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4A368E-13A5-43C5-979A-7303088C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5219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1E7"/>
          </a:solidFill>
          <a:ln xmlns:a="http://schemas.openxmlformats.org/drawingml/2006/main" w="9525">
            <a:solidFill>
              <a:srgbClr val="F8D0B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E4C33-167B-43B5-A78A-AB16B1C0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FBA043-5A9C-4B92-A9DF-75115943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2400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이휘 · 팀장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B6D81F-872F-4BC0-A8BB-13F8FA72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4857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시스템 설계 · 펌웨어/시뮬레이터/웹 구현 · 실물 D 통합 · 문서 작성 · GitHub/구글폼 최종 제출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77330F-982D-41FD-BFE9-BD0C5342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5219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6F8"/>
          </a:solidFill>
          <a:ln xmlns:a="http://schemas.openxmlformats.org/drawingml/2006/main" w="9525">
            <a:solidFill>
              <a:srgbClr val="BDE3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ED60D8-1A42-414D-9902-C544CCF0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34CA8A-6CCE-4729-B415-913A818D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김민수 · 팀원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AF46D3-366E-49DE-BE0A-05DE9E73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4857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코드 흐름 이해 · Wokwi/로그 확인 · 시연 영상 참여 · 발표 내용 숙지 · 최종 제출 내용 공동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2D1401-1B9D-4808-90F0-C4399D5E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91050"/>
            <a:ext cx="52197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49C097-AC10-4665-A751-088E3E9C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910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10233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E7BA2A-ED7A-4F50-9DFE-F5DBD218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AI 활용 원칙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42093B-1FCC-4106-BD32-10F69DAD2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485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코드·문서 초안, 오류 진단, 반복 시험을 보조받았습니다. 최종 동작 확인과 제출 판단은 사람이 수행하고 역할을 공개합니다.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924B30-E425-408D-987B-EAD8E1D4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90650"/>
            <a:ext cx="52578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9050">
            <a:solidFill>
              <a:srgbClr val="98A5B5"/>
            </a:solidFill>
            <a:prstDash val="dash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CA0247-505E-46F1-8370-D9729E76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20062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8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47A20"/>
                </a:solidFill>
                <a:latin typeface="Malgun Gothic"/>
                <a:ea typeface="Malgun Gothic"/>
                <a:cs typeface="Malgun Gothic"/>
              </a:rPr>
              <a:t>(사진)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572888-8BDB-4A41-B2F4-75A7C486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59558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넣을 사진: 이휘와 김민수의 온라인 회의 화면 또는 GitHub Pull Request 검토 화면. 개인정보가 보이지 않도록 자릅니다.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3AED3C-1F12-43D5-BBE5-7A7F4342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6286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A20"/>
          </a:solidFill>
          <a:ln xmlns:a="http://schemas.openxmlformats.org/drawingml/2006/main" w="9525">
            <a:solidFill>
              <a:srgbClr val="F47A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D55C75-8D88-418E-A077-B0BC7AF7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4332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Fig 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57991E-BA1D-43E7-BE1A-DAE21CAE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05225"/>
            <a:ext cx="455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66275"/>
                </a:solidFill>
                <a:latin typeface="Malgun Gothic"/>
                <a:ea typeface="Malgun Gothic"/>
                <a:cs typeface="Malgun Gothic"/>
              </a:rPr>
              <a:t>온라인 협업 및 Pull Request 기반 검토 과정입니다.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472463-12A9-436D-9727-77E57952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29100"/>
            <a:ext cx="52578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DECE8"/>
          </a:solidFill>
          <a:ln xmlns:a="http://schemas.openxmlformats.org/drawingml/2006/main" w="9525">
            <a:solidFill>
              <a:srgbClr val="F5C7B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1F7014-550C-42EE-A339-1BDC6DC7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29100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3B22"/>
          </a:solidFill>
          <a:ln xmlns:a="http://schemas.openxmlformats.org/drawingml/2006/main" w="9525">
            <a:solidFill>
              <a:srgbClr val="C23B2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D53CC9-4324-4EEE-B290-8A9AB41A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62450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33F"/>
                </a:solidFill>
                <a:latin typeface="Malgun Gothic"/>
                <a:ea typeface="Malgun Gothic"/>
                <a:cs typeface="Malgun Gothic"/>
              </a:rPr>
              <a:t>제출 전 반드시 교체·확인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BD7096-56A2-40E6-8ECE-12B53681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62500"/>
            <a:ext cx="46863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5"/>
              </a:spcAft>
              <a:buNone/>
              <a:def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참가신청서의 학교·학과·학년·연락처·이메일·생년월일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5"/>
              </a:spcAft>
              <a:buNone/>
              <a:def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개인정보 수집·이용 동의 체크와 팀원 구성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5"/>
              </a:spcAft>
              <a:buNone/>
              <a:def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PPT의 모든 (사진) 박스와 Fig 캡션 일치 여부</a:t>
            </a:r>
          </a:p>
          <a:p xmlns:a="http://schemas.openxmlformats.org/drawingml/2006/main">
            <a:pPr marL="24" indent="-13" algn="l">
              <a:lnSpc>
                <a:spcPct val="108000"/>
              </a:lnSpc>
              <a:spcAft>
                <a:spcPts val="5"/>
              </a:spcAft>
              <a:buNone/>
              <a:def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C23B22"/>
                </a:solidFill>
                <a:latin typeface="Malgun Gothic"/>
                <a:ea typeface="Malgun Gothic"/>
                <a:cs typeface="Malgun Gothic"/>
              </a:rPr>
              <a:t>YouTube 링크·팀번호·참가자 인적사항과 PDF 변환 결과</a:t>
            </a:r>
          </a:p>
        </p:txBody>
      </p:sp>
    </p:spTree>
    <p:extLst>
      <p:ext uri="{BB962C8B-B14F-4D97-AF65-F5344CB8AC3E}">
        <p14:creationId xmlns:p14="http://schemas.microsoft.com/office/powerpoint/2010/main" val="4411485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2026-09-02T03:11:50.4400000Z</dcterms:created>
  <dcterms:modified xsi:type="dcterms:W3CDTF">2026-09-02T03:11:50.4400000Z</dcterms:modified>
</coreProperties>
</file>