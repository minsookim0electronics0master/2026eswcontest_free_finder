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 파일명 규칙: 2026ESWContest_자유공모_팀명_개발완료보고서.pdf (팀명만 교체). PDF로 변환해 구글폼에 첨부. 작품명이 바뀌면 표지·목차·결론을 함께 수정. 표지에 학교명·연락처가 필요한지 공지사항을 확인할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 구성이 바뀌면 목차 번호를 마지막에 맞출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 포인트: 문제 정의가 구체적인가. 통계는 1~2개면 충분하며 반드시 출처를 단다. 민수가 발표에서 자기 말로 설명할 수 있는 내용만 남길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줄 정의는 영상·작품소개서에도 동일하게 사용해 메시지를 통일한다.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 포인트: '무엇이 새로운가'에 대한 답. 세 줄 모두 '통신망 의존 제거'로 수렴함을 발표에서 강조. 유사 사례 조사는 이령 담당.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그림은 sim/도구로 생성(수정 필요 시 이령에게). 발표 시 ①→③ 순서로 30초 안에 설명하는 연습을 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 포인트: 기성 프로토콜을 가져다 쓴 것이 아니라 요구에 맞는 최소 규격을 직접 설계했다는 것. msgId 상위/하위 비트 설계 이유(노드별 독립 시퀀스로 전역 유일)를 민수가 설명할 수 있어야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페이지가 기술의 핵심. 민수가 세 규칙을 각각 '없으면 무슨 문제가 생기는지'로 설명할 수 있어야 한다 (Q&amp;A 단골 질문).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 포인트: 하드웨어 없이도 검증 가능한 개발 체계. 보드 지연 리스크를 시뮬레이션으로 관리했다는 스토리로 연결. 스크린샷 2장은 각자 실행 화면을 캡처해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 조건(이슈 #2): 3지점 RSSI CSV가 data/에 커밋. 사진·표는 실측 후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'문제→원인→해결' 한 세트는 반드시 민수 본인의 경험이어야 한다. 코드 캡처는 민수가 작성한 부분에서 고를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MVP에서는 텍스트 한 줄이어도 충분. 세기 바까지 되면 사진을 바 버전으로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콘티 제안(3분): 0:00-0:30 문제 제기 → 0:30-1:00 3계층 소개 → 1:00-2:20 핵심 시연(장면①→②→③, 자막으로 설명) → 2:20-3:00 웹 데모 + 마무리. 장면 ②에서 전원을 뽑는 손과 D의 화면이 한 프레임에 나오게 찍을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반복 횟수는 10회면 충분. '몇 번 해봤더니 됐다'가 아니라 표로 제시하는 것이 완성도 점수의 차이를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멘토 참여 범위를 투명하게 밝히는 것이 오히려 신뢰를 얻는다. 일정 그림은 실제 진행에 맞춰 마지막에 갱신.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한계를 스스로 말하면 Q&amp;A에서 찔릴 것이 없어진다. BLE 게이트웨이는 예선까지 구현되면 '구현 내용'으로 승격하고 여기서 삭제.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결론은 새 내용 없이 앞의 요약이어야 한다. 발표 마지막 문장은 민수가 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저장소는 심사 기간에 접근 가능해야 한다 — 공지사항의 공개(public) 요건을 확인하고 제출 직전에 링크 3종을 남의 계정(로그아웃 상태)에서 열어 볼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ADCFC"/>
                </a:solidFill>
                <a:latin typeface="맑은 고딕"/>
                <a:ea typeface="맑은 고딕"/>
              </a:rPr>
              <a:t>2026 임베디드SW경진대회  ·  자유공모 부문  ·  개발완료보고서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낯선 곳 필요시설 알리미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CADCFC"/>
                </a:solidFill>
                <a:latin typeface="맑은 고딕"/>
                <a:ea typeface="맑은 고딕"/>
              </a:rPr>
              <a:t>재난에도 끊기지 않는 3계층 시설 안내 — 오프라인 지도 · BLE · LoRa 메시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팀명: 〔TODO_팀명〕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ADCFC"/>
                </a:solidFill>
                <a:latin typeface="맑은 고딕"/>
                <a:ea typeface="맑은 고딕"/>
              </a:rPr>
              <a:t>팀원: 김민수(개발) · 이령(멘토)   〔TODO: 표기 형식은 참가신청서 기준으로 통일〕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맑은 고딕"/>
                <a:ea typeface="맑은 고딕"/>
              </a:rPr>
              <a:t>2026. 9.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1.  개발 배경 및 필요성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2.  작품 개요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3.  차별성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4.  시스템 구성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5.  통신 규격 설계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6.  메시 릴레이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7.  사전 검증 (시뮬레이션)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8.  구현 내용 (점대점 · 메시 · 단말)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9.  핵심 시연 — 단일 장애점 제거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10.  실험 결과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11.  개발 일정 및 역할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12.  한계와 확장 계획 ·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1. 개발 배경 및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낯선 장소의 응급 상황 —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AED·소화전·화장실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의 위치를 즉시 알기 어려움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뒷받침 통계 1건 — 예: 심정지 골든타임, 일반인 AED 사용률. 출처를 함께 표기〕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기존 안내 수단(지도 앱·안내판·재난 문자)은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통신망과 전원에 의존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— 재난으로 기지국·인터넷이 끊기면 가장 필요한 순간에 동작하지 않음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→ 목표: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통신망 없이도 동작하는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3계층 시설 안내 체계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749039" cy="4206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〔배경 사진/그림 자리
(예: AED 안내판, 재난 뉴스 화면)
출처 표기 필수, 없으면 삭제〕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2. 작품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맑은 고딕"/>
                <a:ea typeface="맑은 고딕"/>
              </a:rPr>
              <a:t>“평시에는 오프라인 지도로, 실내에서는 BLE로, 재난 시에는 LoRa 메시로 — 통신망 없이 필요시설을 안내한다”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계층 ①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 오프라인 공공데이터 + GPS → 현 위치 기준 최근접 시설 지도 안내 (웹)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계층 ②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 시설 노드의 BLE 광고 → 앱 설치 없이 실내 최후 50 m 안내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계층 ③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 LoRa 메시 릴레이 → 통신망 붕괴 시에도 시설·재난 정보 전파 (중계 노드가 죽어도 우회 — 단일 장애점 제거)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구성: 시설 노드 3대 + 수신 단말 1대 (Heltec WiFi LoRa 32 V3, ESP32-S3 + SX1262)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3. 차별성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297680"/>
              </a:tblGrid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기존 방식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본 작품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지도 앱 (네이버·카카오)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인터넷 필수, 재난 시 불능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오프라인 CSV + GPS — 통신망 불필요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매장용 비콘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전용 앱 설치·서버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표준 BLE 광고 — 스캔만으로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재난 문자 (CBS)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기지국 의존, 시설 위치 미포함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기지국 없는 LoRa 메시로 지역 전파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634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유사 서비스·선행 작품 1~2개를 조사해 위 표를 구체화 (이름을 명시하면 설득력 상승)〕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4.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6</a:t>
            </a:r>
          </a:p>
        </p:txBody>
      </p:sp>
      <p:pic>
        <p:nvPicPr>
          <p:cNvPr id="4" name="Picture 3" descr="rf1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43000"/>
            <a:ext cx="1024128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5. 통신 규격 설계 — 직접 정의한 9바이트 패킷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7</a:t>
            </a:r>
          </a:p>
        </p:txBody>
      </p:sp>
      <p:pic>
        <p:nvPicPr>
          <p:cNvPr id="4" name="Picture 3" descr="rf3_pa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88720"/>
            <a:ext cx="10241280" cy="2446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77639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KR920 대역 내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923.0 MHz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, 저출력 운용 · LoRa 라이브러리 RadioLib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노드·수신 단말·시뮬레이터가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단일 헤더(packet.h)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를 공유 → 규격 불일치 원천 차단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9바이트 고정 길이 → 전송 시간(airtime) 최소화 = 충돌 확률·전력 절감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6. 메시 릴레이 설계 — 릴레이 3규칙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8</a:t>
            </a:r>
          </a:p>
        </p:txBody>
      </p:sp>
      <p:pic>
        <p:nvPicPr>
          <p:cNvPr id="4" name="Picture 3" descr="rf2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035040" cy="2866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46304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400" b="1">
                <a:solidFill>
                  <a:srgbClr val="1F2328"/>
                </a:solidFill>
                <a:latin typeface="맑은 고딕"/>
                <a:ea typeface="맑은 고딕"/>
              </a:rPr>
              <a:t>규칙 1 · 중복 폐기</a:t>
            </a: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 — msgId 캐시(16개 FIFO)에 있으면 버림 → 무한 릴레이 방지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400" b="1">
                <a:solidFill>
                  <a:srgbClr val="1F2328"/>
                </a:solidFill>
                <a:latin typeface="맑은 고딕"/>
                <a:ea typeface="맑은 고딕"/>
              </a:rPr>
              <a:t>규칙 2 · TTL</a:t>
            </a: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 — 중계 때마다 1 감소(초기 4), 0이면 재송신 안 함 → 전파 범위 제한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400" b="1">
                <a:solidFill>
                  <a:srgbClr val="1F2328"/>
                </a:solidFill>
                <a:latin typeface="맑은 고딕"/>
                <a:ea typeface="맑은 고딕"/>
              </a:rPr>
              <a:t>규칙 3 · 랜덤 지연</a:t>
            </a: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 — 재송신 전 50~300 ms 무작위 대기 → 동시 송신 충돌 회피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•  중앙 서버·라우팅 테이블 없음 — 세 규칙만으로 우회가 </a:t>
            </a:r>
            <a:r>
              <a:rPr sz="1400" b="1">
                <a:solidFill>
                  <a:srgbClr val="1F2328"/>
                </a:solidFill>
                <a:latin typeface="맑은 고딕"/>
                <a:ea typeface="맑은 고딕"/>
              </a:rPr>
              <a:t>자동으로</a:t>
            </a: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 일어남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7. 사전 검증 — 만들기 전에 시뮬레이션으로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파이썬 이산 이벤트 시뮬레이터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(표준 라이브러리, 직접 제작) — 릴레이 3규칙·토폴로지 모사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자동 테스트 4건 통과 ·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B 제거 시 A→C→D 우회 수신 유지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확인 (293 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486400" cy="3566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〔시뮬레이터 실행 로그 스크린샷
(python mesh_sim.py --topology diamond --kill B)〕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468880"/>
            <a:ext cx="5486400" cy="3566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〔Wokwi 예행 스크린샷
(브라우저 4탭 메시, MQTT 가짜 전파)〕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8-1. 구현 ① — LoRa 점대점 통신과 전파 실측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보드 2대 점대점: 카운터 송신 → 수신 측이 값 +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RSSI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(신호 세기)를 시리얼 출력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거리가 다른 3지점에서 RSSI 실측 · 기록 (data/ 폴더에 CSV로 보존)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구현 요약 2~3줄 — 민수가 실제 구현 후 본인 표현으로 작성〕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80160"/>
            <a:ext cx="393192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〔수신 시리얼 출력 캡처〕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840480"/>
            <a:ext cx="393192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〔3지점 RSSI 표 또는 그래프〕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8-2. 구현 ② — 메시 릴레이 (핵심)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설계한 릴레이 3규칙을 노드 펌웨어에 구현 (msgId 캐시 · TTL · 랜덤 지연)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시뮬레이터 로그와 실기기 시리얼 로그를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같은 시나리오로 비교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해 동작 검증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구현 중 겪은 문제와 해결 1건 — 심사가 가장 좋아하는 내용 (예: 중복 폭주, 타이밍)〕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80160"/>
            <a:ext cx="393192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〔핵심 코드 일부 캡처
(캐시 검사 or 랜덤 지연 부분)〕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840480"/>
            <a:ext cx="393192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〔4대 릴레이 시리얼 로그 캡처〕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8-3. 구현 ③ — 수신 단말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LoRa 수신 → OLED에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시설명 + 신호 세기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표시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RSSI 이동평균으로 값 떨림 완화 → 접근/이탈에 따라 표시가 증감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표시 화면 구성 설명 — 실제 구현 후 작성〕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80160"/>
            <a:ext cx="3931920" cy="49377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〔단말 OLED 표시 사진
(시설명·세기 바가 보이게)〕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9. 핵심 시연 — 중계가 죽어도 안내는 계속된다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3108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〔장면 ① 정상 릴레이
A→B/C→D 수신 중
(시연 영상 캡처로 교체)〕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71600"/>
            <a:ext cx="3566160" cy="3108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〔장면 ② 중계 B 전원 제거
(카메라 앞에서 뽑음)
(시연 영상 캡처로 교체)〕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566160" cy="3108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〔장면 ③ 수신 유지
A→C→D 우회 확인
(시연 영상 캡처로 교체)〕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시연 영상(3분): 〔TODO: 유튜브 링크 — 제목 2026ESWContest_자유공모_팀명_시연동영상〕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10. 실험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4023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〔RSSI-거리 표/그래프
(3지점 실측, data/ CSV 기반)〕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486400" cy="4023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〔우회 시나리오 반복 결과
(B 제거 n회 반복 — 수신 성공률, 평균 소요 시간)〕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결과 요약 2줄 — 숫자로. 예: “B 제거 10회 반복, 10회 모두 수신 유지, 평균 ○○ ms”〕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11. 개발 일정 및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4" name="Picture 3" descr="rf4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362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역할 원칙: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심사 Q&amp;A에서 답할 사람이 직접 만든다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— 제품 펌웨어는 김민수가 전담, 멘토는 규격·시뮬레이터·웹데모·문서·리뷰 담당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12. 한계와 확장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E2761"/>
                </a:solidFill>
                <a:latin typeface="맑은 고딕"/>
                <a:ea typeface="맑은 고딕"/>
              </a:rPr>
              <a:t>•  한계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저출력 운용으로 도달 거리 제한 — 〔TODO: 실측 거리로 구체화〕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전파 충돌을 시뮬레이터에서 단순화 — 노드 수가 늘면 재검증 필요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E2761"/>
                </a:solidFill>
                <a:latin typeface="맑은 고딕"/>
                <a:ea typeface="맑은 고딕"/>
              </a:rPr>
              <a:t>•  확장 계획 (결선까지 · 이후)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BLE 게이트웨이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: LoRa로 받은 재난 메시지를 노드가 BLE로 재방송 (설계 완료, 구현 예정)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시설 관리 주체(지자체·건물)와 설치 협의, 배터리·태양광 전원화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공공데이터 자동 갱신 파이프라인 (웹 데모 → 단말 연동)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결론 및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•  통신망이 없어도 동작하는 3계층 시설 안내 체계를 </a:t>
            </a:r>
            <a:r>
              <a:rPr sz="1700" b="1">
                <a:solidFill>
                  <a:srgbClr val="1F2328"/>
                </a:solidFill>
                <a:latin typeface="맑은 고딕"/>
                <a:ea typeface="맑은 고딕"/>
              </a:rPr>
              <a:t>실물 4대로 구현·검증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•  중계 노드 소실 시 자동 우회 — 재난 인프라의 핵심 요건인 </a:t>
            </a:r>
            <a:r>
              <a:rPr sz="1700" b="1">
                <a:solidFill>
                  <a:srgbClr val="1F2328"/>
                </a:solidFill>
                <a:latin typeface="맑은 고딕"/>
                <a:ea typeface="맑은 고딕"/>
              </a:rPr>
              <a:t>단일 장애점 제거</a:t>
            </a: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를 3가지 단순 규칙으로 달성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•  표준 공공데이터·표준 BLE·비면허 대역 LoRa만 사용 → </a:t>
            </a:r>
            <a:r>
              <a:rPr sz="1700" b="1">
                <a:solidFill>
                  <a:srgbClr val="1F2328"/>
                </a:solidFill>
                <a:latin typeface="맑은 고딕"/>
                <a:ea typeface="맑은 고딕"/>
              </a:rPr>
              <a:t>낮은 비용으로 즉시 확장 가능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•  〔TODO: 마지막 한 문장 — 팀이 하고 싶은 말로 마무리〕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링크 및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6705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소스코드 (GitHub)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github.com/〔민수아이디〕/2026ESWContest_free_〔팀명〕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시연동영상 (YouTube)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D1242F"/>
                          </a:solidFill>
                          <a:latin typeface="맑은 고딕"/>
                          <a:ea typeface="맑은 고딕"/>
                        </a:rPr>
                        <a:t>〔TODO: 링크〕  제목: 2026ESWContest_자유공모_팀명_시연동영상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맑은 고딕"/>
                <a:ea typeface="맑은 고딕"/>
              </a:rPr>
              <a:t>•  사용한 오픈소스·데이터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RadioLib (MIT) · ESP32 Arduino Core (LGPL) · 카카오맵 JS API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공공데이터포털 전국공중화장실 표준데이터 〔TODO: AED·소화전 데이터명 확정 후 추가〕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맑은 고딕"/>
                <a:ea typeface="맑은 고딕"/>
              </a:rPr>
              <a:t>•  제출 전 확인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보고서 PDF·영상 제목·저장소 이름이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파일명 규칙과 일치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하는지 3종 모두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